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haroni" panose="02010803020104030203" pitchFamily="2" charset="-79"/>
      <p:bold r:id="rId13"/>
    </p:embeddedFont>
    <p:embeddedFont>
      <p:font typeface="Poppins Light" panose="00000400000000000000" pitchFamily="2"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1" d="100"/>
          <a:sy n="51" d="100"/>
        </p:scale>
        <p:origin x="898" y="17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sp>
        <p:nvSpPr>
          <p:cNvPr id="84" name="Google Shape;84;p13"/>
          <p:cNvSpPr/>
          <p:nvPr/>
        </p:nvSpPr>
        <p:spPr>
          <a:xfrm>
            <a:off x="984134" y="1702613"/>
            <a:ext cx="16230600" cy="6881774"/>
          </a:xfrm>
          <a:custGeom>
            <a:avLst/>
            <a:gdLst/>
            <a:ahLst/>
            <a:cxnLst/>
            <a:rect l="l" t="t" r="r" b="b"/>
            <a:pathLst>
              <a:path w="16230600" h="6881774" extrusionOk="0">
                <a:moveTo>
                  <a:pt x="0" y="0"/>
                </a:moveTo>
                <a:lnTo>
                  <a:pt x="16230600" y="0"/>
                </a:lnTo>
                <a:lnTo>
                  <a:pt x="16230600" y="6881774"/>
                </a:lnTo>
                <a:lnTo>
                  <a:pt x="0" y="6881774"/>
                </a:lnTo>
                <a:lnTo>
                  <a:pt x="0" y="0"/>
                </a:lnTo>
                <a:close/>
              </a:path>
            </a:pathLst>
          </a:custGeom>
          <a:blipFill rotWithShape="1">
            <a:blip r:embed="rId3">
              <a:alphaModFix amt="60000"/>
            </a:blip>
            <a:stretch>
              <a:fillRect/>
            </a:stretch>
          </a:blipFill>
          <a:ln>
            <a:noFill/>
          </a:ln>
        </p:spPr>
      </p:sp>
      <p:sp>
        <p:nvSpPr>
          <p:cNvPr id="85" name="Google Shape;85;p13"/>
          <p:cNvSpPr/>
          <p:nvPr/>
        </p:nvSpPr>
        <p:spPr>
          <a:xfrm>
            <a:off x="2332850" y="2170794"/>
            <a:ext cx="2132461" cy="710820"/>
          </a:xfrm>
          <a:custGeom>
            <a:avLst/>
            <a:gdLst/>
            <a:ahLst/>
            <a:cxnLst/>
            <a:rect l="l" t="t" r="r" b="b"/>
            <a:pathLst>
              <a:path w="2132461" h="710820" extrusionOk="0">
                <a:moveTo>
                  <a:pt x="0" y="0"/>
                </a:moveTo>
                <a:lnTo>
                  <a:pt x="2132461" y="0"/>
                </a:lnTo>
                <a:lnTo>
                  <a:pt x="2132461" y="710820"/>
                </a:lnTo>
                <a:lnTo>
                  <a:pt x="0" y="710820"/>
                </a:lnTo>
                <a:lnTo>
                  <a:pt x="0" y="0"/>
                </a:lnTo>
                <a:close/>
              </a:path>
            </a:pathLst>
          </a:custGeom>
          <a:blipFill rotWithShape="1">
            <a:blip r:embed="rId4">
              <a:alphaModFix/>
            </a:blip>
            <a:stretch>
              <a:fillRect/>
            </a:stretch>
          </a:blipFill>
          <a:ln>
            <a:noFill/>
          </a:ln>
        </p:spPr>
      </p:sp>
      <p:sp>
        <p:nvSpPr>
          <p:cNvPr id="86" name="Google Shape;86;p13"/>
          <p:cNvSpPr txBox="1"/>
          <p:nvPr/>
        </p:nvSpPr>
        <p:spPr>
          <a:xfrm>
            <a:off x="2571750" y="3496256"/>
            <a:ext cx="6750721" cy="39085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699" b="0" i="0" u="none" strike="noStrike" cap="none" dirty="0">
                <a:solidFill>
                  <a:srgbClr val="FFFFFF"/>
                </a:solidFill>
                <a:latin typeface="Aharoni" panose="02010803020104030203" pitchFamily="2" charset="-79"/>
                <a:ea typeface="Poppins"/>
                <a:cs typeface="Aharoni" panose="02010803020104030203" pitchFamily="2" charset="-79"/>
                <a:sym typeface="Poppins"/>
              </a:rPr>
              <a:t>HALISI</a:t>
            </a:r>
            <a:endParaRPr dirty="0">
              <a:latin typeface="Aharoni" panose="02010803020104030203" pitchFamily="2" charset="-79"/>
              <a:cs typeface="Aharoni" panose="02010803020104030203" pitchFamily="2" charset="-79"/>
            </a:endParaRPr>
          </a:p>
          <a:p>
            <a:pPr marL="0" marR="0" lvl="0" indent="0" algn="l" rtl="0">
              <a:lnSpc>
                <a:spcPct val="100000"/>
              </a:lnSpc>
              <a:spcBef>
                <a:spcPts val="0"/>
              </a:spcBef>
              <a:spcAft>
                <a:spcPts val="0"/>
              </a:spcAft>
              <a:buNone/>
            </a:pPr>
            <a:r>
              <a:rPr lang="en-US" sz="12699" b="0" i="0" u="none" strike="noStrike" cap="none" dirty="0">
                <a:solidFill>
                  <a:srgbClr val="FFFFFF"/>
                </a:solidFill>
                <a:latin typeface="Aharoni" panose="02010803020104030203" pitchFamily="2" charset="-79"/>
                <a:ea typeface="Poppins"/>
                <a:cs typeface="Aharoni" panose="02010803020104030203" pitchFamily="2" charset="-79"/>
                <a:sym typeface="Poppins"/>
              </a:rPr>
              <a:t>APP</a:t>
            </a:r>
            <a:endParaRPr dirty="0">
              <a:latin typeface="Aharoni" panose="02010803020104030203" pitchFamily="2" charset="-79"/>
              <a:cs typeface="Aharoni" panose="02010803020104030203" pitchFamily="2" charset="-79"/>
            </a:endParaRPr>
          </a:p>
        </p:txBody>
      </p:sp>
      <p:sp>
        <p:nvSpPr>
          <p:cNvPr id="87" name="Google Shape;87;p13"/>
          <p:cNvSpPr txBox="1"/>
          <p:nvPr/>
        </p:nvSpPr>
        <p:spPr>
          <a:xfrm>
            <a:off x="2571750" y="8114719"/>
            <a:ext cx="1893561"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Aharoni" panose="02010803020104030203" pitchFamily="2" charset="-79"/>
                <a:ea typeface="Poppins"/>
                <a:cs typeface="Aharoni" panose="02010803020104030203" pitchFamily="2" charset="-79"/>
                <a:sym typeface="Poppins"/>
              </a:rPr>
              <a:t>OCTOBER </a:t>
            </a:r>
            <a:r>
              <a:rPr lang="en-US" sz="2400" b="0" i="0" u="none" strike="noStrike" cap="none" dirty="0">
                <a:solidFill>
                  <a:srgbClr val="FFFFFF"/>
                </a:solidFill>
                <a:latin typeface="Aharoni" panose="02010803020104030203" pitchFamily="2" charset="-79"/>
                <a:ea typeface="Poppins"/>
                <a:cs typeface="Aharoni" panose="02010803020104030203" pitchFamily="2" charset="-79"/>
                <a:sym typeface="Poppins"/>
              </a:rPr>
              <a:t>2026</a:t>
            </a:r>
            <a:endParaRPr dirty="0">
              <a:latin typeface="Aharoni" panose="02010803020104030203" pitchFamily="2" charset="-79"/>
              <a:cs typeface="Aharoni" panose="02010803020104030203" pitchFamily="2" charset="-79"/>
            </a:endParaRPr>
          </a:p>
        </p:txBody>
      </p:sp>
      <p:sp>
        <p:nvSpPr>
          <p:cNvPr id="88" name="Google Shape;88;p13"/>
          <p:cNvSpPr txBox="1"/>
          <p:nvPr/>
        </p:nvSpPr>
        <p:spPr>
          <a:xfrm>
            <a:off x="13006902" y="7640374"/>
            <a:ext cx="3787080"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defRPr sz="2000">
                <a:solidFill>
                  <a:srgbClr val="FFFFFF"/>
                </a:solidFill>
                <a:latin typeface="Arimo"/>
              </a:defRPr>
            </a:pPr>
            <a:r>
              <a:rPr dirty="0">
                <a:latin typeface="Poppins Light" panose="00000400000000000000" pitchFamily="2" charset="0"/>
                <a:cs typeface="Poppins Light" panose="00000400000000000000" pitchFamily="2" charset="0"/>
              </a:rPr>
              <a:t>By Halisi Group · </a:t>
            </a:r>
            <a:r>
              <a:rPr lang="en-US" dirty="0">
                <a:latin typeface="Poppins Light" panose="00000400000000000000" pitchFamily="2" charset="0"/>
                <a:cs typeface="Poppins Light" panose="00000400000000000000" pitchFamily="2" charset="0"/>
              </a:rPr>
              <a:t>Chiromo Tech Club . </a:t>
            </a:r>
            <a:r>
              <a:rPr dirty="0">
                <a:latin typeface="Poppins Light" panose="00000400000000000000" pitchFamily="2" charset="0"/>
                <a:cs typeface="Poppins Light" panose="00000400000000000000" pitchFamily="2" charset="0"/>
              </a:rPr>
              <a:t>University of </a:t>
            </a:r>
            <a:r>
              <a:rPr lang="en-GB" dirty="0">
                <a:latin typeface="Poppins Light" panose="00000400000000000000" pitchFamily="2" charset="0"/>
                <a:cs typeface="Poppins Light" panose="00000400000000000000" pitchFamily="2" charset="0"/>
              </a:rPr>
              <a:t>Nairobi </a:t>
            </a:r>
            <a:endParaRPr dirty="0">
              <a:latin typeface="Poppins Light" panose="00000400000000000000" pitchFamily="2" charset="0"/>
              <a:cs typeface="Poppins Light" panose="000004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
        <p:cNvGrpSpPr/>
        <p:nvPr/>
      </p:nvGrpSpPr>
      <p:grpSpPr>
        <a:xfrm>
          <a:off x="0" y="0"/>
          <a:ext cx="0" cy="0"/>
          <a:chOff x="0" y="0"/>
          <a:chExt cx="0" cy="0"/>
        </a:xfrm>
      </p:grpSpPr>
      <p:sp>
        <p:nvSpPr>
          <p:cNvPr id="93" name="Google Shape;93;p14"/>
          <p:cNvSpPr txBox="1"/>
          <p:nvPr/>
        </p:nvSpPr>
        <p:spPr>
          <a:xfrm>
            <a:off x="2571750" y="1952625"/>
            <a:ext cx="7026020" cy="7995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TABLE OF CONTENTS</a:t>
            </a:r>
            <a:endParaRPr dirty="0"/>
          </a:p>
        </p:txBody>
      </p:sp>
      <p:sp>
        <p:nvSpPr>
          <p:cNvPr id="94" name="Google Shape;94;p14"/>
          <p:cNvSpPr/>
          <p:nvPr/>
        </p:nvSpPr>
        <p:spPr>
          <a:xfrm>
            <a:off x="-1780358" y="443271"/>
            <a:ext cx="20814942" cy="8825535"/>
          </a:xfrm>
          <a:custGeom>
            <a:avLst/>
            <a:gdLst/>
            <a:ahLst/>
            <a:cxnLst/>
            <a:rect l="l" t="t" r="r" b="b"/>
            <a:pathLst>
              <a:path w="20814942" h="8825535" extrusionOk="0">
                <a:moveTo>
                  <a:pt x="0" y="0"/>
                </a:moveTo>
                <a:lnTo>
                  <a:pt x="20814942" y="0"/>
                </a:lnTo>
                <a:lnTo>
                  <a:pt x="20814942" y="8825536"/>
                </a:lnTo>
                <a:lnTo>
                  <a:pt x="0" y="8825536"/>
                </a:lnTo>
                <a:lnTo>
                  <a:pt x="0" y="0"/>
                </a:lnTo>
                <a:close/>
              </a:path>
            </a:pathLst>
          </a:custGeom>
          <a:blipFill rotWithShape="1">
            <a:blip r:embed="rId3">
              <a:alphaModFix amt="60000"/>
            </a:blip>
            <a:stretch>
              <a:fillRect/>
            </a:stretch>
          </a:blipFill>
          <a:ln>
            <a:noFill/>
          </a:ln>
        </p:spPr>
        <p:txBody>
          <a:bodyPr/>
          <a:lstStyle/>
          <a:p>
            <a:endParaRPr lang="en-GB" dirty="0"/>
          </a:p>
        </p:txBody>
      </p:sp>
      <p:sp>
        <p:nvSpPr>
          <p:cNvPr id="95" name="Google Shape;95;p14"/>
          <p:cNvSpPr txBox="1"/>
          <p:nvPr/>
        </p:nvSpPr>
        <p:spPr>
          <a:xfrm>
            <a:off x="2571750" y="4057069"/>
            <a:ext cx="485704"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dirty="0">
                <a:solidFill>
                  <a:srgbClr val="FFFFFF"/>
                </a:solidFill>
                <a:latin typeface="Poppins Light"/>
                <a:ea typeface="Poppins Light"/>
                <a:cs typeface="Poppins Light"/>
                <a:sym typeface="Poppins Light"/>
              </a:rPr>
              <a:t>01</a:t>
            </a:r>
            <a:endParaRPr dirty="0"/>
          </a:p>
        </p:txBody>
      </p:sp>
      <p:sp>
        <p:nvSpPr>
          <p:cNvPr id="96" name="Google Shape;96;p14"/>
          <p:cNvSpPr txBox="1"/>
          <p:nvPr/>
        </p:nvSpPr>
        <p:spPr>
          <a:xfrm>
            <a:off x="3321844" y="4141511"/>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Introduction &amp; Methodology</a:t>
            </a:r>
          </a:p>
        </p:txBody>
      </p:sp>
      <p:sp>
        <p:nvSpPr>
          <p:cNvPr id="97" name="Google Shape;97;p14"/>
          <p:cNvSpPr txBox="1"/>
          <p:nvPr/>
        </p:nvSpPr>
        <p:spPr>
          <a:xfrm>
            <a:off x="9810750" y="4057069"/>
            <a:ext cx="506016"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05</a:t>
            </a:r>
            <a:endParaRPr/>
          </a:p>
        </p:txBody>
      </p:sp>
      <p:sp>
        <p:nvSpPr>
          <p:cNvPr id="98" name="Google Shape;98;p14"/>
          <p:cNvSpPr txBox="1"/>
          <p:nvPr/>
        </p:nvSpPr>
        <p:spPr>
          <a:xfrm>
            <a:off x="10560844" y="4141511"/>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Potential Impact &amp; Target Profiles</a:t>
            </a:r>
          </a:p>
        </p:txBody>
      </p:sp>
      <p:sp>
        <p:nvSpPr>
          <p:cNvPr id="99" name="Google Shape;99;p14"/>
          <p:cNvSpPr txBox="1"/>
          <p:nvPr/>
        </p:nvSpPr>
        <p:spPr>
          <a:xfrm>
            <a:off x="2571750" y="5230802"/>
            <a:ext cx="485705"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02</a:t>
            </a:r>
            <a:endParaRPr/>
          </a:p>
        </p:txBody>
      </p:sp>
      <p:sp>
        <p:nvSpPr>
          <p:cNvPr id="100" name="Google Shape;100;p14"/>
          <p:cNvSpPr txBox="1"/>
          <p:nvPr/>
        </p:nvSpPr>
        <p:spPr>
          <a:xfrm>
            <a:off x="3321844" y="5315243"/>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Problem &amp; Market Need</a:t>
            </a:r>
          </a:p>
        </p:txBody>
      </p:sp>
      <p:sp>
        <p:nvSpPr>
          <p:cNvPr id="101" name="Google Shape;101;p14"/>
          <p:cNvSpPr txBox="1"/>
          <p:nvPr/>
        </p:nvSpPr>
        <p:spPr>
          <a:xfrm>
            <a:off x="9810750" y="5230802"/>
            <a:ext cx="60786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06</a:t>
            </a:r>
            <a:endParaRPr/>
          </a:p>
        </p:txBody>
      </p:sp>
      <p:sp>
        <p:nvSpPr>
          <p:cNvPr id="102" name="Google Shape;102;p14"/>
          <p:cNvSpPr txBox="1"/>
          <p:nvPr/>
        </p:nvSpPr>
        <p:spPr>
          <a:xfrm>
            <a:off x="10560844" y="5315243"/>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Team &amp; Execution</a:t>
            </a:r>
          </a:p>
        </p:txBody>
      </p:sp>
      <p:sp>
        <p:nvSpPr>
          <p:cNvPr id="103" name="Google Shape;103;p14"/>
          <p:cNvSpPr txBox="1"/>
          <p:nvPr/>
        </p:nvSpPr>
        <p:spPr>
          <a:xfrm>
            <a:off x="2571750" y="6404535"/>
            <a:ext cx="491012"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03</a:t>
            </a:r>
            <a:endParaRPr/>
          </a:p>
        </p:txBody>
      </p:sp>
      <p:sp>
        <p:nvSpPr>
          <p:cNvPr id="104" name="Google Shape;104;p14"/>
          <p:cNvSpPr txBox="1"/>
          <p:nvPr/>
        </p:nvSpPr>
        <p:spPr>
          <a:xfrm>
            <a:off x="3321844" y="6488976"/>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Solution &amp; Creativity</a:t>
            </a:r>
          </a:p>
        </p:txBody>
      </p:sp>
      <p:sp>
        <p:nvSpPr>
          <p:cNvPr id="105" name="Google Shape;105;p14"/>
          <p:cNvSpPr txBox="1"/>
          <p:nvPr/>
        </p:nvSpPr>
        <p:spPr>
          <a:xfrm>
            <a:off x="9810750" y="6404535"/>
            <a:ext cx="468930"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07</a:t>
            </a:r>
            <a:endParaRPr/>
          </a:p>
        </p:txBody>
      </p:sp>
      <p:sp>
        <p:nvSpPr>
          <p:cNvPr id="106" name="Google Shape;106;p14"/>
          <p:cNvSpPr txBox="1"/>
          <p:nvPr/>
        </p:nvSpPr>
        <p:spPr>
          <a:xfrm>
            <a:off x="10560844" y="6488976"/>
            <a:ext cx="4183194"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Business Potential &amp; Road Ahead</a:t>
            </a:r>
          </a:p>
        </p:txBody>
      </p:sp>
      <p:sp>
        <p:nvSpPr>
          <p:cNvPr id="107" name="Google Shape;107;p14"/>
          <p:cNvSpPr txBox="1"/>
          <p:nvPr/>
        </p:nvSpPr>
        <p:spPr>
          <a:xfrm>
            <a:off x="2571750" y="7578268"/>
            <a:ext cx="502444"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04</a:t>
            </a:r>
            <a:endParaRPr/>
          </a:p>
        </p:txBody>
      </p:sp>
      <p:cxnSp>
        <p:nvCxnSpPr>
          <p:cNvPr id="108" name="Google Shape;108;p14"/>
          <p:cNvCxnSpPr/>
          <p:nvPr/>
        </p:nvCxnSpPr>
        <p:spPr>
          <a:xfrm>
            <a:off x="2571750" y="4856039"/>
            <a:ext cx="5905500" cy="0"/>
          </a:xfrm>
          <a:prstGeom prst="straightConnector1">
            <a:avLst/>
          </a:prstGeom>
          <a:noFill/>
          <a:ln w="9525" cap="flat" cmpd="sng">
            <a:solidFill>
              <a:srgbClr val="C3C5C6"/>
            </a:solidFill>
            <a:prstDash val="solid"/>
            <a:round/>
            <a:headEnd type="none" w="sm" len="sm"/>
            <a:tailEnd type="none" w="sm" len="sm"/>
          </a:ln>
        </p:spPr>
      </p:cxnSp>
      <p:cxnSp>
        <p:nvCxnSpPr>
          <p:cNvPr id="109" name="Google Shape;109;p14"/>
          <p:cNvCxnSpPr/>
          <p:nvPr/>
        </p:nvCxnSpPr>
        <p:spPr>
          <a:xfrm>
            <a:off x="9810750" y="4856039"/>
            <a:ext cx="5905500" cy="0"/>
          </a:xfrm>
          <a:prstGeom prst="straightConnector1">
            <a:avLst/>
          </a:prstGeom>
          <a:noFill/>
          <a:ln w="9525" cap="flat" cmpd="sng">
            <a:solidFill>
              <a:srgbClr val="C3C5C6"/>
            </a:solidFill>
            <a:prstDash val="solid"/>
            <a:round/>
            <a:headEnd type="none" w="sm" len="sm"/>
            <a:tailEnd type="none" w="sm" len="sm"/>
          </a:ln>
        </p:spPr>
      </p:cxnSp>
      <p:cxnSp>
        <p:nvCxnSpPr>
          <p:cNvPr id="110" name="Google Shape;110;p14"/>
          <p:cNvCxnSpPr/>
          <p:nvPr/>
        </p:nvCxnSpPr>
        <p:spPr>
          <a:xfrm>
            <a:off x="2571750" y="6029772"/>
            <a:ext cx="5905500" cy="0"/>
          </a:xfrm>
          <a:prstGeom prst="straightConnector1">
            <a:avLst/>
          </a:prstGeom>
          <a:noFill/>
          <a:ln w="9525" cap="flat" cmpd="sng">
            <a:solidFill>
              <a:srgbClr val="C3C5C6"/>
            </a:solidFill>
            <a:prstDash val="solid"/>
            <a:round/>
            <a:headEnd type="none" w="sm" len="sm"/>
            <a:tailEnd type="none" w="sm" len="sm"/>
          </a:ln>
        </p:spPr>
      </p:cxnSp>
      <p:cxnSp>
        <p:nvCxnSpPr>
          <p:cNvPr id="111" name="Google Shape;111;p14"/>
          <p:cNvCxnSpPr/>
          <p:nvPr/>
        </p:nvCxnSpPr>
        <p:spPr>
          <a:xfrm>
            <a:off x="9810750" y="6029772"/>
            <a:ext cx="5905500" cy="0"/>
          </a:xfrm>
          <a:prstGeom prst="straightConnector1">
            <a:avLst/>
          </a:prstGeom>
          <a:noFill/>
          <a:ln w="9525" cap="flat" cmpd="sng">
            <a:solidFill>
              <a:srgbClr val="C3C5C6"/>
            </a:solidFill>
            <a:prstDash val="solid"/>
            <a:round/>
            <a:headEnd type="none" w="sm" len="sm"/>
            <a:tailEnd type="none" w="sm" len="sm"/>
          </a:ln>
        </p:spPr>
      </p:cxnSp>
      <p:cxnSp>
        <p:nvCxnSpPr>
          <p:cNvPr id="112" name="Google Shape;112;p14"/>
          <p:cNvCxnSpPr/>
          <p:nvPr/>
        </p:nvCxnSpPr>
        <p:spPr>
          <a:xfrm>
            <a:off x="2571750" y="7203505"/>
            <a:ext cx="5905500" cy="0"/>
          </a:xfrm>
          <a:prstGeom prst="straightConnector1">
            <a:avLst/>
          </a:prstGeom>
          <a:noFill/>
          <a:ln w="9525" cap="flat" cmpd="sng">
            <a:solidFill>
              <a:srgbClr val="C3C5C6"/>
            </a:solidFill>
            <a:prstDash val="solid"/>
            <a:round/>
            <a:headEnd type="none" w="sm" len="sm"/>
            <a:tailEnd type="none" w="sm" len="sm"/>
          </a:ln>
        </p:spPr>
      </p:cxnSp>
      <p:cxnSp>
        <p:nvCxnSpPr>
          <p:cNvPr id="113" name="Google Shape;113;p14"/>
          <p:cNvCxnSpPr/>
          <p:nvPr/>
        </p:nvCxnSpPr>
        <p:spPr>
          <a:xfrm>
            <a:off x="9810750" y="7203505"/>
            <a:ext cx="5905500" cy="0"/>
          </a:xfrm>
          <a:prstGeom prst="straightConnector1">
            <a:avLst/>
          </a:prstGeom>
          <a:noFill/>
          <a:ln w="9525" cap="flat" cmpd="sng">
            <a:solidFill>
              <a:srgbClr val="C3C5C6"/>
            </a:solidFill>
            <a:prstDash val="solid"/>
            <a:round/>
            <a:headEnd type="none" w="sm" len="sm"/>
            <a:tailEnd type="none" w="sm" len="sm"/>
          </a:ln>
        </p:spPr>
      </p:cxnSp>
      <p:cxnSp>
        <p:nvCxnSpPr>
          <p:cNvPr id="114" name="Google Shape;114;p14"/>
          <p:cNvCxnSpPr/>
          <p:nvPr/>
        </p:nvCxnSpPr>
        <p:spPr>
          <a:xfrm>
            <a:off x="2571750" y="8377238"/>
            <a:ext cx="5905500" cy="0"/>
          </a:xfrm>
          <a:prstGeom prst="straightConnector1">
            <a:avLst/>
          </a:prstGeom>
          <a:noFill/>
          <a:ln w="9525" cap="flat" cmpd="sng">
            <a:solidFill>
              <a:srgbClr val="C3C5C6"/>
            </a:solidFill>
            <a:prstDash val="solid"/>
            <a:round/>
            <a:headEnd type="none" w="sm" len="sm"/>
            <a:tailEnd type="none" w="sm" len="sm"/>
          </a:ln>
        </p:spPr>
      </p:cxnSp>
      <p:cxnSp>
        <p:nvCxnSpPr>
          <p:cNvPr id="115" name="Google Shape;115;p14"/>
          <p:cNvCxnSpPr/>
          <p:nvPr/>
        </p:nvCxnSpPr>
        <p:spPr>
          <a:xfrm>
            <a:off x="2571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16" name="Google Shape;116;p14"/>
          <p:cNvSpPr txBox="1"/>
          <p:nvPr/>
        </p:nvSpPr>
        <p:spPr>
          <a:xfrm>
            <a:off x="3321844" y="7665467"/>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Technical Complexity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0"/>
        <p:cNvGrpSpPr/>
        <p:nvPr/>
      </p:nvGrpSpPr>
      <p:grpSpPr>
        <a:xfrm>
          <a:off x="0" y="0"/>
          <a:ext cx="0" cy="0"/>
          <a:chOff x="0" y="0"/>
          <a:chExt cx="0" cy="0"/>
        </a:xfrm>
      </p:grpSpPr>
      <p:sp>
        <p:nvSpPr>
          <p:cNvPr id="121" name="Google Shape;121;p15"/>
          <p:cNvSpPr/>
          <p:nvPr/>
        </p:nvSpPr>
        <p:spPr>
          <a:xfrm>
            <a:off x="-3377181" y="-764321"/>
            <a:ext cx="11434605" cy="11434605"/>
          </a:xfrm>
          <a:custGeom>
            <a:avLst/>
            <a:gdLst/>
            <a:ahLst/>
            <a:cxnLst/>
            <a:rect l="l" t="t" r="r" b="b"/>
            <a:pathLst>
              <a:path w="11434605" h="11434605" extrusionOk="0">
                <a:moveTo>
                  <a:pt x="0" y="0"/>
                </a:moveTo>
                <a:lnTo>
                  <a:pt x="11434604" y="0"/>
                </a:lnTo>
                <a:lnTo>
                  <a:pt x="11434604" y="11434604"/>
                </a:lnTo>
                <a:lnTo>
                  <a:pt x="0" y="11434604"/>
                </a:lnTo>
                <a:lnTo>
                  <a:pt x="0" y="0"/>
                </a:lnTo>
                <a:close/>
              </a:path>
            </a:pathLst>
          </a:custGeom>
          <a:blipFill rotWithShape="1">
            <a:blip r:embed="rId3">
              <a:alphaModFix/>
            </a:blip>
            <a:stretch>
              <a:fillRect l="-38842" r="-38842"/>
            </a:stretch>
          </a:blipFill>
          <a:ln>
            <a:noFill/>
          </a:ln>
        </p:spPr>
      </p:sp>
      <p:grpSp>
        <p:nvGrpSpPr>
          <p:cNvPr id="122" name="Google Shape;122;p15"/>
          <p:cNvGrpSpPr/>
          <p:nvPr/>
        </p:nvGrpSpPr>
        <p:grpSpPr>
          <a:xfrm>
            <a:off x="2845165" y="0"/>
            <a:ext cx="5498493" cy="10287000"/>
            <a:chOff x="0" y="0"/>
            <a:chExt cx="1448163" cy="2709333"/>
          </a:xfrm>
        </p:grpSpPr>
        <p:sp>
          <p:nvSpPr>
            <p:cNvPr id="123" name="Google Shape;123;p15"/>
            <p:cNvSpPr/>
            <p:nvPr/>
          </p:nvSpPr>
          <p:spPr>
            <a:xfrm>
              <a:off x="0" y="0"/>
              <a:ext cx="1448163" cy="2709333"/>
            </a:xfrm>
            <a:custGeom>
              <a:avLst/>
              <a:gdLst/>
              <a:ahLst/>
              <a:cxnLst/>
              <a:rect l="l" t="t" r="r" b="b"/>
              <a:pathLst>
                <a:path w="1448163" h="2709333" extrusionOk="0">
                  <a:moveTo>
                    <a:pt x="0" y="0"/>
                  </a:moveTo>
                  <a:lnTo>
                    <a:pt x="1448163" y="0"/>
                  </a:lnTo>
                  <a:lnTo>
                    <a:pt x="1448163" y="2709333"/>
                  </a:lnTo>
                  <a:lnTo>
                    <a:pt x="0" y="2709333"/>
                  </a:lnTo>
                  <a:close/>
                </a:path>
              </a:pathLst>
            </a:custGeom>
            <a:gradFill>
              <a:gsLst>
                <a:gs pos="0">
                  <a:srgbClr val="000000">
                    <a:alpha val="0"/>
                  </a:srgbClr>
                </a:gs>
                <a:gs pos="50000">
                  <a:srgbClr val="000000">
                    <a:alpha val="48627"/>
                  </a:srgbClr>
                </a:gs>
                <a:gs pos="100000">
                  <a:srgbClr val="000000"/>
                </a:gs>
              </a:gsLst>
              <a:lin ang="0" scaled="0"/>
            </a:gradFill>
            <a:ln>
              <a:noFill/>
            </a:ln>
          </p:spPr>
        </p:sp>
        <p:sp>
          <p:nvSpPr>
            <p:cNvPr id="124" name="Google Shape;124;p15"/>
            <p:cNvSpPr txBox="1"/>
            <p:nvPr/>
          </p:nvSpPr>
          <p:spPr>
            <a:xfrm>
              <a:off x="0" y="9525"/>
              <a:ext cx="1448163" cy="269980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5" name="Google Shape;125;p15"/>
          <p:cNvSpPr/>
          <p:nvPr/>
        </p:nvSpPr>
        <p:spPr>
          <a:xfrm flipH="1">
            <a:off x="7327535" y="-285097"/>
            <a:ext cx="16230600" cy="6881774"/>
          </a:xfrm>
          <a:custGeom>
            <a:avLst/>
            <a:gdLst/>
            <a:ahLst/>
            <a:cxnLst/>
            <a:rect l="l" t="t" r="r" b="b"/>
            <a:pathLst>
              <a:path w="16230600" h="6881774" extrusionOk="0">
                <a:moveTo>
                  <a:pt x="16230600" y="0"/>
                </a:moveTo>
                <a:lnTo>
                  <a:pt x="0" y="0"/>
                </a:lnTo>
                <a:lnTo>
                  <a:pt x="0" y="6881774"/>
                </a:lnTo>
                <a:lnTo>
                  <a:pt x="16230600" y="6881774"/>
                </a:lnTo>
                <a:lnTo>
                  <a:pt x="16230600" y="0"/>
                </a:lnTo>
                <a:close/>
              </a:path>
            </a:pathLst>
          </a:custGeom>
          <a:blipFill rotWithShape="1">
            <a:blip r:embed="rId4">
              <a:alphaModFix amt="60000"/>
            </a:blip>
            <a:stretch>
              <a:fillRect/>
            </a:stretch>
          </a:blipFill>
          <a:ln>
            <a:noFill/>
          </a:ln>
        </p:spPr>
      </p:sp>
      <p:cxnSp>
        <p:nvCxnSpPr>
          <p:cNvPr id="126" name="Google Shape;126;p15"/>
          <p:cNvCxnSpPr/>
          <p:nvPr/>
        </p:nvCxnSpPr>
        <p:spPr>
          <a:xfrm>
            <a:off x="9810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27" name="Google Shape;127;p15"/>
          <p:cNvSpPr txBox="1"/>
          <p:nvPr/>
        </p:nvSpPr>
        <p:spPr>
          <a:xfrm>
            <a:off x="9810750" y="1952625"/>
            <a:ext cx="5905500" cy="7995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INTRODUCTION</a:t>
            </a:r>
            <a:endParaRPr dirty="0"/>
          </a:p>
        </p:txBody>
      </p:sp>
      <p:sp>
        <p:nvSpPr>
          <p:cNvPr id="128" name="Google Shape;128;p15"/>
          <p:cNvSpPr txBox="1"/>
          <p:nvPr/>
        </p:nvSpPr>
        <p:spPr>
          <a:xfrm>
            <a:off x="9810750" y="3445134"/>
            <a:ext cx="5905500" cy="4924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800">
                <a:solidFill>
                  <a:srgbClr val="C3C5C6"/>
                </a:solidFill>
                <a:latin typeface="Poppins Light"/>
              </a:defRPr>
            </a:pPr>
            <a:r>
              <a:rPr sz="2000" dirty="0">
                <a:solidFill>
                  <a:schemeClr val="bg1"/>
                </a:solidFill>
                <a:latin typeface="Poppins Light" panose="00000400000000000000" pitchFamily="2" charset="0"/>
                <a:cs typeface="Poppins Light" panose="00000400000000000000" pitchFamily="2" charset="0"/>
              </a:rPr>
              <a:t>Halisi is an AI-powered brand defense platform that protects Kenyan social commerce merchants and everyday shoppers from digital impersonation and mobile money fraud.</a:t>
            </a:r>
          </a:p>
          <a:p>
            <a:endParaRPr sz="2000" dirty="0">
              <a:solidFill>
                <a:schemeClr val="bg1"/>
              </a:solidFill>
              <a:latin typeface="Poppins Light" panose="00000400000000000000" pitchFamily="2" charset="0"/>
              <a:cs typeface="Poppins Light" panose="00000400000000000000" pitchFamily="2" charset="0"/>
            </a:endParaRPr>
          </a:p>
          <a:p>
            <a:pPr>
              <a:defRPr sz="1700">
                <a:solidFill>
                  <a:srgbClr val="C3C5C6"/>
                </a:solidFill>
                <a:latin typeface="Poppins Light"/>
              </a:defRPr>
            </a:pPr>
            <a:r>
              <a:rPr sz="2000" dirty="0">
                <a:solidFill>
                  <a:schemeClr val="bg1"/>
                </a:solidFill>
                <a:latin typeface="Poppins Light" panose="00000400000000000000" pitchFamily="2" charset="0"/>
                <a:cs typeface="Poppins Light" panose="00000400000000000000" pitchFamily="2" charset="0"/>
              </a:rPr>
              <a:t>Concept &amp; Methodology: We fuse computer vision, natural language processing, and transaction verification into a 5-signal composite forensic engine. By analyzing visual identity (dual </a:t>
            </a:r>
            <a:r>
              <a:rPr sz="2000" dirty="0" err="1">
                <a:solidFill>
                  <a:schemeClr val="bg1"/>
                </a:solidFill>
                <a:latin typeface="Poppins Light" panose="00000400000000000000" pitchFamily="2" charset="0"/>
                <a:cs typeface="Poppins Light" panose="00000400000000000000" pitchFamily="2" charset="0"/>
              </a:rPr>
              <a:t>pHash</a:t>
            </a:r>
            <a:r>
              <a:rPr sz="2000" dirty="0">
                <a:solidFill>
                  <a:schemeClr val="bg1"/>
                </a:solidFill>
                <a:latin typeface="Poppins Light" panose="00000400000000000000" pitchFamily="2" charset="0"/>
                <a:cs typeface="Poppins Light" panose="00000400000000000000" pitchFamily="2" charset="0"/>
              </a:rPr>
              <a:t>/</a:t>
            </a:r>
            <a:r>
              <a:rPr sz="2000" dirty="0" err="1">
                <a:solidFill>
                  <a:schemeClr val="bg1"/>
                </a:solidFill>
                <a:latin typeface="Poppins Light" panose="00000400000000000000" pitchFamily="2" charset="0"/>
                <a:cs typeface="Poppins Light" panose="00000400000000000000" pitchFamily="2" charset="0"/>
              </a:rPr>
              <a:t>dHash</a:t>
            </a:r>
            <a:r>
              <a:rPr sz="2000" dirty="0">
                <a:solidFill>
                  <a:schemeClr val="bg1"/>
                </a:solidFill>
                <a:latin typeface="Poppins Light" panose="00000400000000000000" pitchFamily="2" charset="0"/>
                <a:cs typeface="Poppins Light" panose="00000400000000000000" pitchFamily="2" charset="0"/>
              </a:rPr>
              <a:t> and CLIP neural embeddings), phonetic handle distance, Kenyan Sheng/Swahili scam cues, and rogue M-Pesa channels, Halisi delivers instant forensic verdicts (&lt;1s) and one-click legal takedown playbooks before fraud occurs.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2"/>
        <p:cNvGrpSpPr/>
        <p:nvPr/>
      </p:nvGrpSpPr>
      <p:grpSpPr>
        <a:xfrm>
          <a:off x="0" y="0"/>
          <a:ext cx="0" cy="0"/>
          <a:chOff x="0" y="0"/>
          <a:chExt cx="0" cy="0"/>
        </a:xfrm>
      </p:grpSpPr>
      <p:sp>
        <p:nvSpPr>
          <p:cNvPr id="133" name="Google Shape;133;p16"/>
          <p:cNvSpPr/>
          <p:nvPr/>
        </p:nvSpPr>
        <p:spPr>
          <a:xfrm>
            <a:off x="8467702" y="-12365"/>
            <a:ext cx="16252296" cy="10281748"/>
          </a:xfrm>
          <a:custGeom>
            <a:avLst/>
            <a:gdLst/>
            <a:ahLst/>
            <a:cxnLst/>
            <a:rect l="l" t="t" r="r" b="b"/>
            <a:pathLst>
              <a:path w="14350813" h="8825535" extrusionOk="0">
                <a:moveTo>
                  <a:pt x="0" y="0"/>
                </a:moveTo>
                <a:lnTo>
                  <a:pt x="14350813" y="0"/>
                </a:lnTo>
                <a:lnTo>
                  <a:pt x="14350813" y="8825535"/>
                </a:lnTo>
                <a:lnTo>
                  <a:pt x="0" y="8825535"/>
                </a:lnTo>
                <a:lnTo>
                  <a:pt x="0" y="0"/>
                </a:lnTo>
                <a:close/>
              </a:path>
            </a:pathLst>
          </a:custGeom>
          <a:blipFill rotWithShape="1">
            <a:blip r:embed="rId3">
              <a:alphaModFix amt="60000"/>
            </a:blip>
            <a:stretch>
              <a:fillRect l="-45043" t="-160579" b="-160579"/>
            </a:stretch>
          </a:blipFill>
          <a:ln>
            <a:noFill/>
          </a:ln>
        </p:spPr>
      </p:sp>
      <p:grpSp>
        <p:nvGrpSpPr>
          <p:cNvPr id="134" name="Google Shape;134;p16"/>
          <p:cNvGrpSpPr/>
          <p:nvPr/>
        </p:nvGrpSpPr>
        <p:grpSpPr>
          <a:xfrm rot="10800000">
            <a:off x="8467698" y="1866"/>
            <a:ext cx="4264484" cy="10287066"/>
            <a:chOff x="0" y="0"/>
            <a:chExt cx="1123149" cy="2709333"/>
          </a:xfrm>
        </p:grpSpPr>
        <p:sp>
          <p:nvSpPr>
            <p:cNvPr id="135" name="Google Shape;135;p16"/>
            <p:cNvSpPr/>
            <p:nvPr/>
          </p:nvSpPr>
          <p:spPr>
            <a:xfrm>
              <a:off x="0" y="0"/>
              <a:ext cx="1123149" cy="2709333"/>
            </a:xfrm>
            <a:custGeom>
              <a:avLst/>
              <a:gdLst/>
              <a:ahLst/>
              <a:cxnLst/>
              <a:rect l="l" t="t" r="r" b="b"/>
              <a:pathLst>
                <a:path w="1123149" h="2709333" extrusionOk="0">
                  <a:moveTo>
                    <a:pt x="0" y="0"/>
                  </a:moveTo>
                  <a:lnTo>
                    <a:pt x="1123149" y="0"/>
                  </a:lnTo>
                  <a:lnTo>
                    <a:pt x="1123149" y="2709333"/>
                  </a:lnTo>
                  <a:lnTo>
                    <a:pt x="0" y="2709333"/>
                  </a:lnTo>
                  <a:close/>
                </a:path>
              </a:pathLst>
            </a:custGeom>
            <a:gradFill>
              <a:gsLst>
                <a:gs pos="0">
                  <a:srgbClr val="000000">
                    <a:alpha val="0"/>
                  </a:srgbClr>
                </a:gs>
                <a:gs pos="50000">
                  <a:srgbClr val="000000">
                    <a:alpha val="48627"/>
                  </a:srgbClr>
                </a:gs>
                <a:gs pos="100000">
                  <a:srgbClr val="000000"/>
                </a:gs>
              </a:gsLst>
              <a:lin ang="0" scaled="0"/>
            </a:gradFill>
            <a:ln>
              <a:noFill/>
            </a:ln>
          </p:spPr>
        </p:sp>
        <p:sp>
          <p:nvSpPr>
            <p:cNvPr id="136" name="Google Shape;136;p16"/>
            <p:cNvSpPr txBox="1"/>
            <p:nvPr/>
          </p:nvSpPr>
          <p:spPr>
            <a:xfrm>
              <a:off x="0" y="9525"/>
              <a:ext cx="1123149" cy="269980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37" name="Google Shape;137;p16"/>
          <p:cNvCxnSpPr/>
          <p:nvPr/>
        </p:nvCxnSpPr>
        <p:spPr>
          <a:xfrm>
            <a:off x="2571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38" name="Google Shape;138;p16"/>
          <p:cNvSpPr txBox="1"/>
          <p:nvPr/>
        </p:nvSpPr>
        <p:spPr>
          <a:xfrm>
            <a:off x="2571750" y="1952625"/>
            <a:ext cx="5905500" cy="7994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THE PROBLEM</a:t>
            </a:r>
            <a:endParaRPr dirty="0"/>
          </a:p>
        </p:txBody>
      </p:sp>
      <p:sp>
        <p:nvSpPr>
          <p:cNvPr id="140" name="Google Shape;140;p16"/>
          <p:cNvSpPr txBox="1"/>
          <p:nvPr/>
        </p:nvSpPr>
        <p:spPr>
          <a:xfrm>
            <a:off x="2571750" y="3516078"/>
            <a:ext cx="5440136" cy="4924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a:solidFill>
                  <a:srgbClr val="C3C5C6"/>
                </a:solidFill>
                <a:latin typeface="Poppins Light"/>
              </a:defRPr>
            </a:pPr>
            <a:r>
              <a:rPr sz="2000" dirty="0">
                <a:solidFill>
                  <a:schemeClr val="bg1"/>
                </a:solidFill>
              </a:rPr>
              <a:t>Kenya's booming social commerce (Instagram, TikTok, Facebook) runs on mobile money and seller trust.</a:t>
            </a:r>
            <a:r>
              <a:rPr lang="en-US" sz="2000" dirty="0">
                <a:solidFill>
                  <a:schemeClr val="bg1"/>
                </a:solidFill>
              </a:rPr>
              <a:t> </a:t>
            </a:r>
            <a:r>
              <a:rPr sz="2000" dirty="0">
                <a:solidFill>
                  <a:schemeClr val="bg1"/>
                </a:solidFill>
              </a:rPr>
              <a:t>Fraudsters exploit this by creating pixel-perfect clone</a:t>
            </a:r>
            <a:r>
              <a:rPr lang="en-US" sz="2000" dirty="0">
                <a:solidFill>
                  <a:schemeClr val="bg1"/>
                </a:solidFill>
              </a:rPr>
              <a:t> </a:t>
            </a:r>
            <a:r>
              <a:rPr sz="2000" dirty="0">
                <a:solidFill>
                  <a:schemeClr val="bg1"/>
                </a:solidFill>
              </a:rPr>
              <a:t>accounts that hijack authentic brand logos and</a:t>
            </a:r>
            <a:r>
              <a:rPr lang="en-US" sz="2000" dirty="0">
                <a:solidFill>
                  <a:schemeClr val="bg1"/>
                </a:solidFill>
              </a:rPr>
              <a:t> </a:t>
            </a:r>
            <a:r>
              <a:rPr sz="2000" dirty="0">
                <a:solidFill>
                  <a:schemeClr val="bg1"/>
                </a:solidFill>
              </a:rPr>
              <a:t>usernames, undercutting prices to deceive</a:t>
            </a:r>
            <a:r>
              <a:rPr lang="en-US" sz="2000" dirty="0">
                <a:solidFill>
                  <a:schemeClr val="bg1"/>
                </a:solidFill>
              </a:rPr>
              <a:t> </a:t>
            </a:r>
            <a:r>
              <a:rPr sz="2000" dirty="0">
                <a:solidFill>
                  <a:schemeClr val="bg1"/>
                </a:solidFill>
              </a:rPr>
              <a:t>unsuspecting buyers into sending money to personal</a:t>
            </a:r>
            <a:r>
              <a:rPr lang="en-US" sz="2000" dirty="0">
                <a:solidFill>
                  <a:schemeClr val="bg1"/>
                </a:solidFill>
              </a:rPr>
              <a:t> </a:t>
            </a:r>
            <a:r>
              <a:rPr sz="2000" dirty="0">
                <a:solidFill>
                  <a:schemeClr val="bg1"/>
                </a:solidFill>
              </a:rPr>
              <a:t>lines, unverified Tills, or </a:t>
            </a:r>
            <a:r>
              <a:rPr sz="2000" dirty="0" err="1">
                <a:solidFill>
                  <a:schemeClr val="bg1"/>
                </a:solidFill>
              </a:rPr>
              <a:t>Pochi</a:t>
            </a:r>
            <a:r>
              <a:rPr sz="2000" dirty="0">
                <a:solidFill>
                  <a:schemeClr val="bg1"/>
                </a:solidFill>
              </a:rPr>
              <a:t> la Biashara.</a:t>
            </a:r>
            <a:r>
              <a:rPr lang="en-US" sz="2000" dirty="0">
                <a:solidFill>
                  <a:schemeClr val="bg1"/>
                </a:solidFill>
              </a:rPr>
              <a:t> </a:t>
            </a:r>
            <a:r>
              <a:rPr sz="2000" dirty="0">
                <a:solidFill>
                  <a:schemeClr val="bg1"/>
                </a:solidFill>
              </a:rPr>
              <a:t>Over KSh 3.2B is lost annually to cyber fraud, yet existing platform reporting takes weeks, leaving buyers robbed with zero recourse and destroying merchant reputation. Halisi replaces slow, manual reporting with instant, proactive verification—stopping fraud before money moves.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4"/>
        <p:cNvGrpSpPr/>
        <p:nvPr/>
      </p:nvGrpSpPr>
      <p:grpSpPr>
        <a:xfrm>
          <a:off x="0" y="0"/>
          <a:ext cx="0" cy="0"/>
          <a:chOff x="0" y="0"/>
          <a:chExt cx="0" cy="0"/>
        </a:xfrm>
      </p:grpSpPr>
      <p:sp>
        <p:nvSpPr>
          <p:cNvPr id="145" name="Google Shape;145;p17"/>
          <p:cNvSpPr/>
          <p:nvPr/>
        </p:nvSpPr>
        <p:spPr>
          <a:xfrm>
            <a:off x="0" y="996624"/>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46" name="Google Shape;146;p17"/>
          <p:cNvCxnSpPr/>
          <p:nvPr/>
        </p:nvCxnSpPr>
        <p:spPr>
          <a:xfrm>
            <a:off x="2571750" y="2596624"/>
            <a:ext cx="567898" cy="0"/>
          </a:xfrm>
          <a:prstGeom prst="straightConnector1">
            <a:avLst/>
          </a:prstGeom>
          <a:noFill/>
          <a:ln w="38100" cap="flat" cmpd="sng">
            <a:solidFill>
              <a:srgbClr val="D2B99A"/>
            </a:solidFill>
            <a:prstDash val="solid"/>
            <a:round/>
            <a:headEnd type="none" w="sm" len="sm"/>
            <a:tailEnd type="none" w="sm" len="sm"/>
          </a:ln>
        </p:spPr>
      </p:cxnSp>
      <p:sp>
        <p:nvSpPr>
          <p:cNvPr id="147" name="Google Shape;147;p17"/>
          <p:cNvSpPr/>
          <p:nvPr/>
        </p:nvSpPr>
        <p:spPr>
          <a:xfrm>
            <a:off x="12551336" y="2815429"/>
            <a:ext cx="4741674" cy="2010470"/>
          </a:xfrm>
          <a:custGeom>
            <a:avLst/>
            <a:gdLst/>
            <a:ahLst/>
            <a:cxnLst/>
            <a:rect l="l" t="t" r="r" b="b"/>
            <a:pathLst>
              <a:path w="4741674" h="2010470" extrusionOk="0">
                <a:moveTo>
                  <a:pt x="0" y="0"/>
                </a:moveTo>
                <a:lnTo>
                  <a:pt x="4741674" y="0"/>
                </a:lnTo>
                <a:lnTo>
                  <a:pt x="4741674" y="2010470"/>
                </a:lnTo>
                <a:lnTo>
                  <a:pt x="0" y="2010470"/>
                </a:lnTo>
                <a:lnTo>
                  <a:pt x="0" y="0"/>
                </a:lnTo>
                <a:close/>
              </a:path>
            </a:pathLst>
          </a:custGeom>
          <a:blipFill rotWithShape="1">
            <a:blip r:embed="rId4">
              <a:alphaModFix/>
            </a:blip>
            <a:stretch>
              <a:fillRect t="-67925" b="-67925"/>
            </a:stretch>
          </a:blipFill>
          <a:ln>
            <a:noFill/>
          </a:ln>
        </p:spPr>
      </p:sp>
      <p:sp>
        <p:nvSpPr>
          <p:cNvPr id="148" name="Google Shape;148;p17"/>
          <p:cNvSpPr/>
          <p:nvPr/>
        </p:nvSpPr>
        <p:spPr>
          <a:xfrm>
            <a:off x="8413717" y="2400165"/>
            <a:ext cx="4042890" cy="2425734"/>
          </a:xfrm>
          <a:custGeom>
            <a:avLst/>
            <a:gdLst/>
            <a:ahLst/>
            <a:cxnLst/>
            <a:rect l="l" t="t" r="r" b="b"/>
            <a:pathLst>
              <a:path w="4042890" h="2425734" extrusionOk="0">
                <a:moveTo>
                  <a:pt x="0" y="0"/>
                </a:moveTo>
                <a:lnTo>
                  <a:pt x="4042891" y="0"/>
                </a:lnTo>
                <a:lnTo>
                  <a:pt x="4042891" y="2425734"/>
                </a:lnTo>
                <a:lnTo>
                  <a:pt x="0" y="2425734"/>
                </a:lnTo>
                <a:lnTo>
                  <a:pt x="0" y="0"/>
                </a:lnTo>
                <a:close/>
              </a:path>
            </a:pathLst>
          </a:custGeom>
          <a:blipFill rotWithShape="1">
            <a:blip r:embed="rId5">
              <a:alphaModFix/>
            </a:blip>
            <a:stretch>
              <a:fillRect/>
            </a:stretch>
          </a:blipFill>
          <a:ln>
            <a:noFill/>
          </a:ln>
        </p:spPr>
      </p:sp>
      <p:sp>
        <p:nvSpPr>
          <p:cNvPr id="149" name="Google Shape;149;p17"/>
          <p:cNvSpPr/>
          <p:nvPr/>
        </p:nvSpPr>
        <p:spPr>
          <a:xfrm>
            <a:off x="10264830" y="4925703"/>
            <a:ext cx="3522863" cy="2561217"/>
          </a:xfrm>
          <a:custGeom>
            <a:avLst/>
            <a:gdLst/>
            <a:ahLst/>
            <a:cxnLst/>
            <a:rect l="l" t="t" r="r" b="b"/>
            <a:pathLst>
              <a:path w="3522863" h="2561217" extrusionOk="0">
                <a:moveTo>
                  <a:pt x="0" y="0"/>
                </a:moveTo>
                <a:lnTo>
                  <a:pt x="3522864" y="0"/>
                </a:lnTo>
                <a:lnTo>
                  <a:pt x="3522864" y="2561216"/>
                </a:lnTo>
                <a:lnTo>
                  <a:pt x="0" y="2561216"/>
                </a:lnTo>
                <a:lnTo>
                  <a:pt x="0" y="0"/>
                </a:lnTo>
                <a:close/>
              </a:path>
            </a:pathLst>
          </a:custGeom>
          <a:blipFill rotWithShape="1">
            <a:blip r:embed="rId6">
              <a:alphaModFix/>
            </a:blip>
            <a:stretch>
              <a:fillRect/>
            </a:stretch>
          </a:blipFill>
          <a:ln>
            <a:noFill/>
          </a:ln>
        </p:spPr>
      </p:sp>
      <p:sp>
        <p:nvSpPr>
          <p:cNvPr id="150" name="Google Shape;150;p17"/>
          <p:cNvSpPr/>
          <p:nvPr/>
        </p:nvSpPr>
        <p:spPr>
          <a:xfrm>
            <a:off x="12144419" y="2277678"/>
            <a:ext cx="1422638" cy="1422638"/>
          </a:xfrm>
          <a:custGeom>
            <a:avLst/>
            <a:gdLst/>
            <a:ahLst/>
            <a:cxnLst/>
            <a:rect l="l" t="t" r="r" b="b"/>
            <a:pathLst>
              <a:path w="1422638" h="1422638" extrusionOk="0">
                <a:moveTo>
                  <a:pt x="0" y="0"/>
                </a:moveTo>
                <a:lnTo>
                  <a:pt x="1422638" y="0"/>
                </a:lnTo>
                <a:lnTo>
                  <a:pt x="1422638" y="1422639"/>
                </a:lnTo>
                <a:lnTo>
                  <a:pt x="0" y="1422639"/>
                </a:lnTo>
                <a:lnTo>
                  <a:pt x="0" y="0"/>
                </a:lnTo>
                <a:close/>
              </a:path>
            </a:pathLst>
          </a:custGeom>
          <a:blipFill rotWithShape="1">
            <a:blip r:embed="rId7">
              <a:alphaModFix/>
            </a:blip>
            <a:stretch>
              <a:fillRect/>
            </a:stretch>
          </a:blipFill>
          <a:ln>
            <a:noFill/>
          </a:ln>
        </p:spPr>
      </p:sp>
      <p:sp>
        <p:nvSpPr>
          <p:cNvPr id="151" name="Google Shape;151;p17"/>
          <p:cNvSpPr txBox="1"/>
          <p:nvPr/>
        </p:nvSpPr>
        <p:spPr>
          <a:xfrm>
            <a:off x="2571750" y="1682805"/>
            <a:ext cx="5905500" cy="7994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THE SOLUTION</a:t>
            </a:r>
            <a:endParaRPr dirty="0"/>
          </a:p>
        </p:txBody>
      </p:sp>
      <p:sp>
        <p:nvSpPr>
          <p:cNvPr id="153" name="Google Shape;153;p17"/>
          <p:cNvSpPr txBox="1"/>
          <p:nvPr/>
        </p:nvSpPr>
        <p:spPr>
          <a:xfrm>
            <a:off x="2571750" y="3218115"/>
            <a:ext cx="5242214" cy="58477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a:solidFill>
                  <a:srgbClr val="C3C5C6"/>
                </a:solidFill>
                <a:latin typeface="Poppins Light"/>
              </a:defRPr>
            </a:pPr>
            <a:r>
              <a:rPr sz="2000" dirty="0">
                <a:solidFill>
                  <a:schemeClr val="bg1"/>
                </a:solidFill>
              </a:rPr>
              <a:t>Halisi is the first platform engineered specifically for Kenya's mobile financial reality. Instead of relying solely on generic domain blacklists, Halisi cross-references suspect pages against verified M-Pesa Tills, </a:t>
            </a:r>
            <a:r>
              <a:rPr sz="2000" dirty="0" err="1">
                <a:solidFill>
                  <a:schemeClr val="bg1"/>
                </a:solidFill>
              </a:rPr>
              <a:t>Paybills</a:t>
            </a:r>
            <a:r>
              <a:rPr sz="2000" dirty="0">
                <a:solidFill>
                  <a:schemeClr val="bg1"/>
                </a:solidFill>
              </a:rPr>
              <a:t>, and </a:t>
            </a:r>
            <a:r>
              <a:rPr sz="2000" dirty="0" err="1">
                <a:solidFill>
                  <a:schemeClr val="bg1"/>
                </a:solidFill>
              </a:rPr>
              <a:t>Pochi</a:t>
            </a:r>
            <a:r>
              <a:rPr sz="2000" dirty="0">
                <a:solidFill>
                  <a:schemeClr val="bg1"/>
                </a:solidFill>
              </a:rPr>
              <a:t> accounts, detecting payment asymmetry alongside Sheng/Swahili urgency language ('lipa deposit kwanza').</a:t>
            </a:r>
          </a:p>
          <a:p>
            <a:endParaRPr sz="2000" dirty="0">
              <a:solidFill>
                <a:schemeClr val="bg1"/>
              </a:solidFill>
            </a:endParaRPr>
          </a:p>
          <a:p>
            <a:pPr>
              <a:defRPr sz="1550">
                <a:solidFill>
                  <a:srgbClr val="C3C5C6"/>
                </a:solidFill>
                <a:latin typeface="Poppins Light"/>
              </a:defRPr>
            </a:pPr>
            <a:r>
              <a:rPr sz="2000" dirty="0">
                <a:solidFill>
                  <a:schemeClr val="bg1"/>
                </a:solidFill>
              </a:rPr>
              <a:t>Our engine computes a calibrated 5-dimension forensic score with strict confidence gating to prevent false positives against honest competitors. On detection, Halisi automatically drafts court-ready evidence dossiers (SHA-256 bundle hash) and platform takedown notices under the Computer Misuse and Cybercrimes Act 2018.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7"/>
        <p:cNvGrpSpPr/>
        <p:nvPr/>
      </p:nvGrpSpPr>
      <p:grpSpPr>
        <a:xfrm>
          <a:off x="0" y="0"/>
          <a:ext cx="0" cy="0"/>
          <a:chOff x="0" y="0"/>
          <a:chExt cx="0" cy="0"/>
        </a:xfrm>
      </p:grpSpPr>
      <p:sp>
        <p:nvSpPr>
          <p:cNvPr id="158" name="Google Shape;158;p18"/>
          <p:cNvSpPr/>
          <p:nvPr/>
        </p:nvSpPr>
        <p:spPr>
          <a:xfrm>
            <a:off x="0" y="1251454"/>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60" name="Google Shape;160;p18"/>
          <p:cNvCxnSpPr/>
          <p:nvPr/>
        </p:nvCxnSpPr>
        <p:spPr>
          <a:xfrm rot="10800000" flipH="1">
            <a:off x="9120334" y="2557937"/>
            <a:ext cx="9013" cy="1416271"/>
          </a:xfrm>
          <a:prstGeom prst="straightConnector1">
            <a:avLst/>
          </a:prstGeom>
          <a:noFill/>
          <a:ln w="9525" cap="flat" cmpd="sng">
            <a:solidFill>
              <a:srgbClr val="C3C5C6"/>
            </a:solidFill>
            <a:prstDash val="solid"/>
            <a:round/>
            <a:headEnd type="none" w="sm" len="sm"/>
            <a:tailEnd type="none" w="sm" len="sm"/>
          </a:ln>
        </p:spPr>
      </p:cxnSp>
      <p:sp>
        <p:nvSpPr>
          <p:cNvPr id="161" name="Google Shape;161;p18"/>
          <p:cNvSpPr/>
          <p:nvPr/>
        </p:nvSpPr>
        <p:spPr>
          <a:xfrm>
            <a:off x="8800380" y="1266444"/>
            <a:ext cx="708148" cy="708148"/>
          </a:xfrm>
          <a:custGeom>
            <a:avLst/>
            <a:gdLst/>
            <a:ahLst/>
            <a:cxnLst/>
            <a:rect l="l" t="t" r="r" b="b"/>
            <a:pathLst>
              <a:path w="708148" h="708148" extrusionOk="0">
                <a:moveTo>
                  <a:pt x="0" y="0"/>
                </a:moveTo>
                <a:lnTo>
                  <a:pt x="708148" y="0"/>
                </a:lnTo>
                <a:lnTo>
                  <a:pt x="708148" y="708148"/>
                </a:lnTo>
                <a:lnTo>
                  <a:pt x="0" y="708148"/>
                </a:lnTo>
                <a:lnTo>
                  <a:pt x="0" y="0"/>
                </a:lnTo>
                <a:close/>
              </a:path>
            </a:pathLst>
          </a:custGeom>
          <a:blipFill rotWithShape="1">
            <a:blip r:embed="rId4">
              <a:alphaModFix/>
            </a:blip>
            <a:stretch>
              <a:fillRect/>
            </a:stretch>
          </a:blipFill>
          <a:ln>
            <a:noFill/>
          </a:ln>
        </p:spPr>
      </p:sp>
      <p:sp>
        <p:nvSpPr>
          <p:cNvPr id="162" name="Google Shape;162;p18"/>
          <p:cNvSpPr/>
          <p:nvPr/>
        </p:nvSpPr>
        <p:spPr>
          <a:xfrm>
            <a:off x="8809392" y="4341500"/>
            <a:ext cx="690122" cy="708148"/>
          </a:xfrm>
          <a:custGeom>
            <a:avLst/>
            <a:gdLst/>
            <a:ahLst/>
            <a:cxnLst/>
            <a:rect l="l" t="t" r="r" b="b"/>
            <a:pathLst>
              <a:path w="690122" h="708148" extrusionOk="0">
                <a:moveTo>
                  <a:pt x="0" y="0"/>
                </a:moveTo>
                <a:lnTo>
                  <a:pt x="690123" y="0"/>
                </a:lnTo>
                <a:lnTo>
                  <a:pt x="690123" y="708148"/>
                </a:lnTo>
                <a:lnTo>
                  <a:pt x="0" y="708148"/>
                </a:lnTo>
                <a:lnTo>
                  <a:pt x="0" y="0"/>
                </a:lnTo>
                <a:close/>
              </a:path>
            </a:pathLst>
          </a:custGeom>
          <a:blipFill rotWithShape="1">
            <a:blip r:embed="rId5">
              <a:alphaModFix/>
            </a:blip>
            <a:stretch>
              <a:fillRect/>
            </a:stretch>
          </a:blipFill>
          <a:ln>
            <a:noFill/>
          </a:ln>
        </p:spPr>
      </p:sp>
      <p:sp>
        <p:nvSpPr>
          <p:cNvPr id="165" name="Google Shape;165;p18"/>
          <p:cNvSpPr txBox="1"/>
          <p:nvPr/>
        </p:nvSpPr>
        <p:spPr>
          <a:xfrm>
            <a:off x="11031655" y="1202801"/>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TIERED INGESTION</a:t>
            </a:r>
          </a:p>
        </p:txBody>
      </p:sp>
      <p:sp>
        <p:nvSpPr>
          <p:cNvPr id="166" name="Google Shape;166;p18"/>
          <p:cNvSpPr txBox="1"/>
          <p:nvPr/>
        </p:nvSpPr>
        <p:spPr>
          <a:xfrm>
            <a:off x="11031655" y="4442747"/>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VISUAL &amp; PAYMENT AI</a:t>
            </a:r>
          </a:p>
        </p:txBody>
      </p:sp>
      <p:sp>
        <p:nvSpPr>
          <p:cNvPr id="168" name="Google Shape;168;p18"/>
          <p:cNvSpPr txBox="1"/>
          <p:nvPr/>
        </p:nvSpPr>
        <p:spPr>
          <a:xfrm>
            <a:off x="11031654" y="1549174"/>
            <a:ext cx="5142735" cy="184665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Multi-tiered async scraper with SSRF protection. Tier 1 matches cached </a:t>
            </a:r>
            <a:r>
              <a:rPr sz="2000" dirty="0" err="1">
                <a:solidFill>
                  <a:schemeClr val="bg1"/>
                </a:solidFill>
                <a:latin typeface="Poppins Light" panose="00000400000000000000" pitchFamily="2" charset="0"/>
                <a:cs typeface="Poppins Light" panose="00000400000000000000" pitchFamily="2" charset="0"/>
              </a:rPr>
              <a:t>pgvector</a:t>
            </a:r>
            <a:r>
              <a:rPr sz="2000" dirty="0">
                <a:solidFill>
                  <a:schemeClr val="bg1"/>
                </a:solidFill>
                <a:latin typeface="Poppins Light" panose="00000400000000000000" pitchFamily="2" charset="0"/>
                <a:cs typeface="Poppins Light" panose="00000400000000000000" pitchFamily="2" charset="0"/>
              </a:rPr>
              <a:t> records; Tier 2 deploys an </a:t>
            </a:r>
            <a:r>
              <a:rPr sz="2000" dirty="0" err="1">
                <a:solidFill>
                  <a:schemeClr val="bg1"/>
                </a:solidFill>
                <a:latin typeface="Poppins Light" panose="00000400000000000000" pitchFamily="2" charset="0"/>
                <a:cs typeface="Poppins Light" panose="00000400000000000000" pitchFamily="2" charset="0"/>
              </a:rPr>
              <a:t>OpenGraph</a:t>
            </a:r>
            <a:r>
              <a:rPr sz="2000" dirty="0">
                <a:solidFill>
                  <a:schemeClr val="bg1"/>
                </a:solidFill>
                <a:latin typeface="Poppins Light" panose="00000400000000000000" pitchFamily="2" charset="0"/>
                <a:cs typeface="Poppins Light" panose="00000400000000000000" pitchFamily="2" charset="0"/>
              </a:rPr>
              <a:t> crawler with crawler headers to bypass login walls; Tier 3 provides manual assist.</a:t>
            </a:r>
          </a:p>
        </p:txBody>
      </p:sp>
      <p:sp>
        <p:nvSpPr>
          <p:cNvPr id="169" name="Google Shape;169;p18"/>
          <p:cNvSpPr txBox="1"/>
          <p:nvPr/>
        </p:nvSpPr>
        <p:spPr>
          <a:xfrm>
            <a:off x="11031654" y="4749783"/>
            <a:ext cx="5142735" cy="184665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Normalizes logos (EXIF, alpha-to-white, square pad) and extracts 64-bit </a:t>
            </a:r>
            <a:r>
              <a:rPr sz="2000" dirty="0" err="1">
                <a:solidFill>
                  <a:schemeClr val="bg1"/>
                </a:solidFill>
                <a:latin typeface="Poppins Light" panose="00000400000000000000" pitchFamily="2" charset="0"/>
                <a:cs typeface="Poppins Light" panose="00000400000000000000" pitchFamily="2" charset="0"/>
              </a:rPr>
              <a:t>pHash</a:t>
            </a:r>
            <a:r>
              <a:rPr sz="2000" dirty="0">
                <a:solidFill>
                  <a:schemeClr val="bg1"/>
                </a:solidFill>
                <a:latin typeface="Poppins Light" panose="00000400000000000000" pitchFamily="2" charset="0"/>
                <a:cs typeface="Poppins Light" panose="00000400000000000000" pitchFamily="2" charset="0"/>
              </a:rPr>
              <a:t> + </a:t>
            </a:r>
            <a:r>
              <a:rPr sz="2000" dirty="0" err="1">
                <a:solidFill>
                  <a:schemeClr val="bg1"/>
                </a:solidFill>
                <a:latin typeface="Poppins Light" panose="00000400000000000000" pitchFamily="2" charset="0"/>
                <a:cs typeface="Poppins Light" panose="00000400000000000000" pitchFamily="2" charset="0"/>
              </a:rPr>
              <a:t>dHash</a:t>
            </a:r>
            <a:r>
              <a:rPr sz="2000" dirty="0">
                <a:solidFill>
                  <a:schemeClr val="bg1"/>
                </a:solidFill>
                <a:latin typeface="Poppins Light" panose="00000400000000000000" pitchFamily="2" charset="0"/>
                <a:cs typeface="Poppins Light" panose="00000400000000000000" pitchFamily="2" charset="0"/>
              </a:rPr>
              <a:t> alongside 512-d CLIP ViT-B-32 embeddings. Regex engines extract Kenyan phone, Till, </a:t>
            </a:r>
            <a:r>
              <a:rPr sz="2000" dirty="0" err="1">
                <a:solidFill>
                  <a:schemeClr val="bg1"/>
                </a:solidFill>
                <a:latin typeface="Poppins Light" panose="00000400000000000000" pitchFamily="2" charset="0"/>
                <a:cs typeface="Poppins Light" panose="00000400000000000000" pitchFamily="2" charset="0"/>
              </a:rPr>
              <a:t>Paybill</a:t>
            </a:r>
            <a:r>
              <a:rPr sz="2000" dirty="0">
                <a:solidFill>
                  <a:schemeClr val="bg1"/>
                </a:solidFill>
                <a:latin typeface="Poppins Light" panose="00000400000000000000" pitchFamily="2" charset="0"/>
                <a:cs typeface="Poppins Light" panose="00000400000000000000" pitchFamily="2" charset="0"/>
              </a:rPr>
              <a:t>, and </a:t>
            </a:r>
            <a:r>
              <a:rPr sz="2000" dirty="0" err="1">
                <a:solidFill>
                  <a:schemeClr val="bg1"/>
                </a:solidFill>
                <a:latin typeface="Poppins Light" panose="00000400000000000000" pitchFamily="2" charset="0"/>
                <a:cs typeface="Poppins Light" panose="00000400000000000000" pitchFamily="2" charset="0"/>
              </a:rPr>
              <a:t>Pochi</a:t>
            </a:r>
            <a:r>
              <a:rPr sz="2000" dirty="0">
                <a:solidFill>
                  <a:schemeClr val="bg1"/>
                </a:solidFill>
                <a:latin typeface="Poppins Light" panose="00000400000000000000" pitchFamily="2" charset="0"/>
                <a:cs typeface="Poppins Light" panose="00000400000000000000" pitchFamily="2" charset="0"/>
              </a:rPr>
              <a:t> numbers.</a:t>
            </a:r>
          </a:p>
        </p:txBody>
      </p:sp>
      <p:cxnSp>
        <p:nvCxnSpPr>
          <p:cNvPr id="170" name="Google Shape;170;p18"/>
          <p:cNvCxnSpPr/>
          <p:nvPr/>
        </p:nvCxnSpPr>
        <p:spPr>
          <a:xfrm rot="10800000">
            <a:off x="9111321" y="5702987"/>
            <a:ext cx="2749" cy="1186877"/>
          </a:xfrm>
          <a:prstGeom prst="straightConnector1">
            <a:avLst/>
          </a:prstGeom>
          <a:noFill/>
          <a:ln w="9525" cap="flat" cmpd="sng">
            <a:solidFill>
              <a:srgbClr val="C3C5C6"/>
            </a:solidFill>
            <a:prstDash val="solid"/>
            <a:round/>
            <a:headEnd type="none" w="sm" len="sm"/>
            <a:tailEnd type="none" w="sm" len="sm"/>
          </a:ln>
        </p:spPr>
      </p:cxnSp>
      <p:sp>
        <p:nvSpPr>
          <p:cNvPr id="171" name="Google Shape;171;p18"/>
          <p:cNvSpPr/>
          <p:nvPr/>
        </p:nvSpPr>
        <p:spPr>
          <a:xfrm>
            <a:off x="8775273" y="7289432"/>
            <a:ext cx="690122" cy="708148"/>
          </a:xfrm>
          <a:custGeom>
            <a:avLst/>
            <a:gdLst/>
            <a:ahLst/>
            <a:cxnLst/>
            <a:rect l="l" t="t" r="r" b="b"/>
            <a:pathLst>
              <a:path w="690122" h="708148" extrusionOk="0">
                <a:moveTo>
                  <a:pt x="0" y="0"/>
                </a:moveTo>
                <a:lnTo>
                  <a:pt x="690122" y="0"/>
                </a:lnTo>
                <a:lnTo>
                  <a:pt x="690122" y="708148"/>
                </a:lnTo>
                <a:lnTo>
                  <a:pt x="0" y="708148"/>
                </a:lnTo>
                <a:lnTo>
                  <a:pt x="0" y="0"/>
                </a:lnTo>
                <a:close/>
              </a:path>
            </a:pathLst>
          </a:custGeom>
          <a:blipFill rotWithShape="1">
            <a:blip r:embed="rId5">
              <a:alphaModFix/>
            </a:blip>
            <a:stretch>
              <a:fillRect/>
            </a:stretch>
          </a:blipFill>
          <a:ln>
            <a:noFill/>
          </a:ln>
        </p:spPr>
      </p:sp>
      <p:sp>
        <p:nvSpPr>
          <p:cNvPr id="172" name="Google Shape;172;p18"/>
          <p:cNvSpPr txBox="1"/>
          <p:nvPr/>
        </p:nvSpPr>
        <p:spPr>
          <a:xfrm>
            <a:off x="11013629" y="7390678"/>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LINGUISTIC NLP</a:t>
            </a:r>
          </a:p>
        </p:txBody>
      </p:sp>
      <p:sp>
        <p:nvSpPr>
          <p:cNvPr id="173" name="Google Shape;173;p18"/>
          <p:cNvSpPr txBox="1"/>
          <p:nvPr/>
        </p:nvSpPr>
        <p:spPr>
          <a:xfrm>
            <a:off x="11013628" y="7682723"/>
            <a:ext cx="5142735" cy="15388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Analyzes bios for localized urgency cues ('lipa deposit kwanza', 'hurry offers') using a weighted Kenyan lexicon,</a:t>
            </a:r>
            <a:r>
              <a:rPr lang="en-US" sz="2000" dirty="0">
                <a:solidFill>
                  <a:schemeClr val="bg1"/>
                </a:solidFill>
                <a:latin typeface="Poppins Light" panose="00000400000000000000" pitchFamily="2" charset="0"/>
                <a:cs typeface="Poppins Light" panose="00000400000000000000" pitchFamily="2" charset="0"/>
              </a:rPr>
              <a:t> </a:t>
            </a:r>
            <a:r>
              <a:rPr sz="2000" dirty="0">
                <a:solidFill>
                  <a:schemeClr val="bg1"/>
                </a:solidFill>
                <a:latin typeface="Poppins Light" panose="00000400000000000000" pitchFamily="2" charset="0"/>
                <a:cs typeface="Poppins Light" panose="00000400000000000000" pitchFamily="2" charset="0"/>
              </a:rPr>
              <a:t>combined with phonetic handle homoglyph matching (e.g. '1' for 'l').</a:t>
            </a:r>
          </a:p>
        </p:txBody>
      </p:sp>
      <p:cxnSp>
        <p:nvCxnSpPr>
          <p:cNvPr id="174" name="Google Shape;174;p18"/>
          <p:cNvCxnSpPr>
            <a:cxnSpLocks/>
          </p:cNvCxnSpPr>
          <p:nvPr/>
        </p:nvCxnSpPr>
        <p:spPr>
          <a:xfrm flipV="1">
            <a:off x="9111321" y="8415623"/>
            <a:ext cx="0" cy="1327984"/>
          </a:xfrm>
          <a:prstGeom prst="straightConnector1">
            <a:avLst/>
          </a:prstGeom>
          <a:noFill/>
          <a:ln w="9525" cap="flat" cmpd="sng">
            <a:solidFill>
              <a:srgbClr val="C3C5C6"/>
            </a:solidFill>
            <a:prstDash val="solid"/>
            <a:round/>
            <a:headEnd type="none" w="sm" len="sm"/>
            <a:tailEnd type="none" w="sm" len="sm"/>
          </a:ln>
        </p:spPr>
      </p:cxnSp>
      <p:cxnSp>
        <p:nvCxnSpPr>
          <p:cNvPr id="6" name="Google Shape;159;p18">
            <a:extLst>
              <a:ext uri="{FF2B5EF4-FFF2-40B4-BE49-F238E27FC236}">
                <a16:creationId xmlns:a16="http://schemas.microsoft.com/office/drawing/2014/main" id="{3199954A-7DCD-9642-6849-5AAC7C19CCD2}"/>
              </a:ext>
            </a:extLst>
          </p:cNvPr>
          <p:cNvCxnSpPr/>
          <p:nvPr/>
        </p:nvCxnSpPr>
        <p:spPr>
          <a:xfrm>
            <a:off x="1451946" y="3234127"/>
            <a:ext cx="567898" cy="0"/>
          </a:xfrm>
          <a:prstGeom prst="straightConnector1">
            <a:avLst/>
          </a:prstGeom>
          <a:noFill/>
          <a:ln w="38100" cap="flat" cmpd="sng">
            <a:solidFill>
              <a:srgbClr val="D2B99A"/>
            </a:solidFill>
            <a:prstDash val="solid"/>
            <a:round/>
            <a:headEnd type="none" w="sm" len="sm"/>
            <a:tailEnd type="none" w="sm" len="sm"/>
          </a:ln>
        </p:spPr>
      </p:cxnSp>
      <p:sp>
        <p:nvSpPr>
          <p:cNvPr id="7" name="Google Shape;163;p18">
            <a:extLst>
              <a:ext uri="{FF2B5EF4-FFF2-40B4-BE49-F238E27FC236}">
                <a16:creationId xmlns:a16="http://schemas.microsoft.com/office/drawing/2014/main" id="{B2BD3A93-E7AB-C9FA-A81F-56D8C61FA69F}"/>
              </a:ext>
            </a:extLst>
          </p:cNvPr>
          <p:cNvSpPr txBox="1"/>
          <p:nvPr/>
        </p:nvSpPr>
        <p:spPr>
          <a:xfrm>
            <a:off x="1451946" y="1510578"/>
            <a:ext cx="5905500" cy="17235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TECHNICAL COMPLEXITY</a:t>
            </a:r>
          </a:p>
        </p:txBody>
      </p:sp>
      <p:sp>
        <p:nvSpPr>
          <p:cNvPr id="9" name="Google Shape;167;p18">
            <a:extLst>
              <a:ext uri="{FF2B5EF4-FFF2-40B4-BE49-F238E27FC236}">
                <a16:creationId xmlns:a16="http://schemas.microsoft.com/office/drawing/2014/main" id="{55092FE5-BBBE-E16B-8399-4D54CB2737EE}"/>
              </a:ext>
            </a:extLst>
          </p:cNvPr>
          <p:cNvSpPr txBox="1"/>
          <p:nvPr/>
        </p:nvSpPr>
        <p:spPr>
          <a:xfrm>
            <a:off x="1451946" y="4341500"/>
            <a:ext cx="5905500"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Halisi's architecture combines cutting-edge neural embeddings, dual perceptual hashing, and resilient distributed crawling to extract identity signals in real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8"/>
        <p:cNvGrpSpPr/>
        <p:nvPr/>
      </p:nvGrpSpPr>
      <p:grpSpPr>
        <a:xfrm>
          <a:off x="0" y="0"/>
          <a:ext cx="0" cy="0"/>
          <a:chOff x="0" y="0"/>
          <a:chExt cx="0" cy="0"/>
        </a:xfrm>
      </p:grpSpPr>
      <p:sp>
        <p:nvSpPr>
          <p:cNvPr id="179" name="Google Shape;179;p19"/>
          <p:cNvSpPr/>
          <p:nvPr/>
        </p:nvSpPr>
        <p:spPr>
          <a:xfrm>
            <a:off x="649739" y="1333371"/>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80" name="Google Shape;180;p19"/>
          <p:cNvCxnSpPr/>
          <p:nvPr/>
        </p:nvCxnSpPr>
        <p:spPr>
          <a:xfrm rot="10800000">
            <a:off x="2871715" y="4710751"/>
            <a:ext cx="0" cy="1604100"/>
          </a:xfrm>
          <a:prstGeom prst="straightConnector1">
            <a:avLst/>
          </a:prstGeom>
          <a:noFill/>
          <a:ln w="9525" cap="flat" cmpd="sng">
            <a:solidFill>
              <a:srgbClr val="C3C5C6"/>
            </a:solidFill>
            <a:prstDash val="solid"/>
            <a:round/>
            <a:headEnd type="none" w="sm" len="sm"/>
            <a:tailEnd type="none" w="sm" len="sm"/>
          </a:ln>
        </p:spPr>
      </p:cxnSp>
      <p:sp>
        <p:nvSpPr>
          <p:cNvPr id="181" name="Google Shape;181;p19"/>
          <p:cNvSpPr/>
          <p:nvPr/>
        </p:nvSpPr>
        <p:spPr>
          <a:xfrm>
            <a:off x="2620810" y="3824946"/>
            <a:ext cx="511390" cy="623976"/>
          </a:xfrm>
          <a:custGeom>
            <a:avLst/>
            <a:gdLst/>
            <a:ahLst/>
            <a:cxnLst/>
            <a:rect l="l" t="t" r="r" b="b"/>
            <a:pathLst>
              <a:path w="511390" h="623976" extrusionOk="0">
                <a:moveTo>
                  <a:pt x="0" y="0"/>
                </a:moveTo>
                <a:lnTo>
                  <a:pt x="511391" y="0"/>
                </a:lnTo>
                <a:lnTo>
                  <a:pt x="511391" y="623976"/>
                </a:lnTo>
                <a:lnTo>
                  <a:pt x="0" y="623976"/>
                </a:lnTo>
                <a:lnTo>
                  <a:pt x="0" y="0"/>
                </a:lnTo>
                <a:close/>
              </a:path>
            </a:pathLst>
          </a:custGeom>
          <a:blipFill rotWithShape="1">
            <a:blip r:embed="rId4">
              <a:alphaModFix/>
            </a:blip>
            <a:stretch>
              <a:fillRect/>
            </a:stretch>
          </a:blipFill>
          <a:ln>
            <a:noFill/>
          </a:ln>
        </p:spPr>
      </p:sp>
      <p:sp>
        <p:nvSpPr>
          <p:cNvPr id="182" name="Google Shape;182;p19"/>
          <p:cNvSpPr/>
          <p:nvPr/>
        </p:nvSpPr>
        <p:spPr>
          <a:xfrm>
            <a:off x="2620812" y="6647037"/>
            <a:ext cx="619438" cy="623976"/>
          </a:xfrm>
          <a:custGeom>
            <a:avLst/>
            <a:gdLst/>
            <a:ahLst/>
            <a:cxnLst/>
            <a:rect l="l" t="t" r="r" b="b"/>
            <a:pathLst>
              <a:path w="619438" h="623976" extrusionOk="0">
                <a:moveTo>
                  <a:pt x="0" y="0"/>
                </a:moveTo>
                <a:lnTo>
                  <a:pt x="619438" y="0"/>
                </a:lnTo>
                <a:lnTo>
                  <a:pt x="619438" y="623976"/>
                </a:lnTo>
                <a:lnTo>
                  <a:pt x="0" y="623976"/>
                </a:lnTo>
                <a:lnTo>
                  <a:pt x="0" y="0"/>
                </a:lnTo>
                <a:close/>
              </a:path>
            </a:pathLst>
          </a:custGeom>
          <a:blipFill rotWithShape="1">
            <a:blip r:embed="rId5">
              <a:alphaModFix/>
            </a:blip>
            <a:stretch>
              <a:fillRect/>
            </a:stretch>
          </a:blipFill>
          <a:ln>
            <a:noFill/>
          </a:ln>
        </p:spPr>
      </p:sp>
      <p:sp>
        <p:nvSpPr>
          <p:cNvPr id="183" name="Google Shape;183;p19"/>
          <p:cNvSpPr txBox="1"/>
          <p:nvPr/>
        </p:nvSpPr>
        <p:spPr>
          <a:xfrm>
            <a:off x="4687982" y="3900076"/>
            <a:ext cx="3886691"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FORENSIC VERDICT</a:t>
            </a:r>
          </a:p>
        </p:txBody>
      </p:sp>
      <p:sp>
        <p:nvSpPr>
          <p:cNvPr id="184" name="Google Shape;184;p19"/>
          <p:cNvSpPr txBox="1"/>
          <p:nvPr/>
        </p:nvSpPr>
        <p:spPr>
          <a:xfrm>
            <a:off x="4737782" y="6534193"/>
            <a:ext cx="38868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AI </a:t>
            </a:r>
            <a:r>
              <a:rPr sz="2000" b="1" dirty="0">
                <a:solidFill>
                  <a:schemeClr val="bg1"/>
                </a:solidFill>
                <a:latin typeface="Aharoni" panose="02010803020104030203" pitchFamily="2" charset="-79"/>
                <a:cs typeface="Aharoni" panose="02010803020104030203" pitchFamily="2" charset="-79"/>
              </a:rPr>
              <a:t>REMEDIATION</a:t>
            </a:r>
          </a:p>
        </p:txBody>
      </p:sp>
      <p:sp>
        <p:nvSpPr>
          <p:cNvPr id="185" name="Google Shape;185;p19"/>
          <p:cNvSpPr txBox="1"/>
          <p:nvPr/>
        </p:nvSpPr>
        <p:spPr>
          <a:xfrm>
            <a:off x="4670614" y="4176447"/>
            <a:ext cx="8153506"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Delivers sub-second verdicts (HALISI, FEKI, ONYO, HAIJULIKANI) through an Apple Design-inspired interface featuring fluid spring motion, translucent </a:t>
            </a:r>
            <a:r>
              <a:rPr sz="2000" dirty="0" err="1">
                <a:solidFill>
                  <a:schemeClr val="bg1"/>
                </a:solidFill>
                <a:latin typeface="Poppins Light" panose="00000400000000000000" pitchFamily="2" charset="0"/>
                <a:cs typeface="Poppins Light" panose="00000400000000000000" pitchFamily="2" charset="0"/>
              </a:rPr>
              <a:t>glassmorphism</a:t>
            </a:r>
            <a:r>
              <a:rPr sz="2000" dirty="0">
                <a:solidFill>
                  <a:schemeClr val="bg1"/>
                </a:solidFill>
                <a:latin typeface="Poppins Light" panose="00000400000000000000" pitchFamily="2" charset="0"/>
                <a:cs typeface="Poppins Light" panose="00000400000000000000" pitchFamily="2" charset="0"/>
              </a:rPr>
              <a:t>, 64-bit bit-diff grids, and compare sliders.</a:t>
            </a:r>
          </a:p>
        </p:txBody>
      </p:sp>
      <p:sp>
        <p:nvSpPr>
          <p:cNvPr id="186" name="Google Shape;186;p19"/>
          <p:cNvSpPr txBox="1"/>
          <p:nvPr/>
        </p:nvSpPr>
        <p:spPr>
          <a:xfrm>
            <a:off x="4720413" y="6856603"/>
            <a:ext cx="8153735"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Integrates NVIDIA NIM (Llama 3.1 8B Instruct) to generate factual, bilingual (EN/SW) takedown playbooks and tamper-evident PDF dossiers with canonical SHA-256 evidence hashes for law enforcement and KE-CIRT/CC.</a:t>
            </a:r>
          </a:p>
        </p:txBody>
      </p:sp>
      <p:sp>
        <p:nvSpPr>
          <p:cNvPr id="187" name="Google Shape;187;p19"/>
          <p:cNvSpPr/>
          <p:nvPr/>
        </p:nvSpPr>
        <p:spPr>
          <a:xfrm>
            <a:off x="2620812" y="1002871"/>
            <a:ext cx="608093" cy="623976"/>
          </a:xfrm>
          <a:custGeom>
            <a:avLst/>
            <a:gdLst/>
            <a:ahLst/>
            <a:cxnLst/>
            <a:rect l="l" t="t" r="r" b="b"/>
            <a:pathLst>
              <a:path w="608093" h="623976" extrusionOk="0">
                <a:moveTo>
                  <a:pt x="0" y="0"/>
                </a:moveTo>
                <a:lnTo>
                  <a:pt x="608093" y="0"/>
                </a:lnTo>
                <a:lnTo>
                  <a:pt x="608093" y="623976"/>
                </a:lnTo>
                <a:lnTo>
                  <a:pt x="0" y="623976"/>
                </a:lnTo>
                <a:lnTo>
                  <a:pt x="0" y="0"/>
                </a:lnTo>
                <a:close/>
              </a:path>
            </a:pathLst>
          </a:custGeom>
          <a:blipFill rotWithShape="1">
            <a:blip r:embed="rId6">
              <a:alphaModFix/>
            </a:blip>
            <a:stretch>
              <a:fillRect/>
            </a:stretch>
          </a:blipFill>
          <a:ln>
            <a:noFill/>
          </a:ln>
        </p:spPr>
      </p:sp>
      <p:sp>
        <p:nvSpPr>
          <p:cNvPr id="188" name="Google Shape;188;p19"/>
          <p:cNvSpPr txBox="1"/>
          <p:nvPr/>
        </p:nvSpPr>
        <p:spPr>
          <a:xfrm>
            <a:off x="4720414" y="1041126"/>
            <a:ext cx="38868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COMPOSITE SCORING</a:t>
            </a:r>
          </a:p>
        </p:txBody>
      </p:sp>
      <p:sp>
        <p:nvSpPr>
          <p:cNvPr id="189" name="Google Shape;189;p19"/>
          <p:cNvSpPr txBox="1"/>
          <p:nvPr/>
        </p:nvSpPr>
        <p:spPr>
          <a:xfrm>
            <a:off x="4720413" y="1347855"/>
            <a:ext cx="8153735"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Scores 5 dimensions (Visual, Identity, Payment, Language, Account) with dynamic confidence weighting. Employs overrides (O1–O4) for </a:t>
            </a:r>
            <a:r>
              <a:rPr sz="2000" dirty="0" err="1">
                <a:solidFill>
                  <a:schemeClr val="bg1"/>
                </a:solidFill>
                <a:latin typeface="Poppins Light" panose="00000400000000000000" pitchFamily="2" charset="0"/>
                <a:cs typeface="Poppins Light" panose="00000400000000000000" pitchFamily="2" charset="0"/>
              </a:rPr>
              <a:t>typosquats</a:t>
            </a:r>
            <a:r>
              <a:rPr sz="2000" dirty="0">
                <a:solidFill>
                  <a:schemeClr val="bg1"/>
                </a:solidFill>
                <a:latin typeface="Poppins Light" panose="00000400000000000000" pitchFamily="2" charset="0"/>
                <a:cs typeface="Poppins Light" panose="00000400000000000000" pitchFamily="2" charset="0"/>
              </a:rPr>
              <a:t> and rogue tills, plus Gate G1 to protect legitimate competitors.</a:t>
            </a:r>
          </a:p>
        </p:txBody>
      </p:sp>
      <p:cxnSp>
        <p:nvCxnSpPr>
          <p:cNvPr id="190" name="Google Shape;190;p19"/>
          <p:cNvCxnSpPr/>
          <p:nvPr/>
        </p:nvCxnSpPr>
        <p:spPr>
          <a:xfrm rot="10800000" flipH="1">
            <a:off x="2872977" y="1889253"/>
            <a:ext cx="2400" cy="1102800"/>
          </a:xfrm>
          <a:prstGeom prst="straightConnector1">
            <a:avLst/>
          </a:prstGeom>
          <a:noFill/>
          <a:ln w="9525" cap="flat" cmpd="sng">
            <a:solidFill>
              <a:srgbClr val="C3C5C6"/>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94"/>
        <p:cNvGrpSpPr/>
        <p:nvPr/>
      </p:nvGrpSpPr>
      <p:grpSpPr>
        <a:xfrm>
          <a:off x="0" y="0"/>
          <a:ext cx="0" cy="0"/>
          <a:chOff x="0" y="0"/>
          <a:chExt cx="0" cy="0"/>
        </a:xfrm>
      </p:grpSpPr>
      <p:sp>
        <p:nvSpPr>
          <p:cNvPr id="195" name="Google Shape;195;p20"/>
          <p:cNvSpPr/>
          <p:nvPr/>
        </p:nvSpPr>
        <p:spPr>
          <a:xfrm>
            <a:off x="-1180468" y="-116513"/>
            <a:ext cx="21842778" cy="9261338"/>
          </a:xfrm>
          <a:custGeom>
            <a:avLst/>
            <a:gdLst/>
            <a:ahLst/>
            <a:cxnLst/>
            <a:rect l="l" t="t" r="r" b="b"/>
            <a:pathLst>
              <a:path w="21842778" h="9261338" extrusionOk="0">
                <a:moveTo>
                  <a:pt x="0" y="0"/>
                </a:moveTo>
                <a:lnTo>
                  <a:pt x="21842778" y="0"/>
                </a:lnTo>
                <a:lnTo>
                  <a:pt x="21842778" y="9261338"/>
                </a:lnTo>
                <a:lnTo>
                  <a:pt x="0" y="9261338"/>
                </a:lnTo>
                <a:lnTo>
                  <a:pt x="0" y="0"/>
                </a:lnTo>
                <a:close/>
              </a:path>
            </a:pathLst>
          </a:custGeom>
          <a:blipFill rotWithShape="1">
            <a:blip r:embed="rId3">
              <a:alphaModFix amt="60000"/>
            </a:blip>
            <a:stretch>
              <a:fillRect/>
            </a:stretch>
          </a:blipFill>
          <a:ln>
            <a:noFill/>
          </a:ln>
        </p:spPr>
      </p:sp>
      <p:cxnSp>
        <p:nvCxnSpPr>
          <p:cNvPr id="196" name="Google Shape;196;p20"/>
          <p:cNvCxnSpPr/>
          <p:nvPr/>
        </p:nvCxnSpPr>
        <p:spPr>
          <a:xfrm>
            <a:off x="2571750" y="2815156"/>
            <a:ext cx="567898" cy="0"/>
          </a:xfrm>
          <a:prstGeom prst="straightConnector1">
            <a:avLst/>
          </a:prstGeom>
          <a:noFill/>
          <a:ln w="38100" cap="flat" cmpd="sng">
            <a:solidFill>
              <a:srgbClr val="D2B99A"/>
            </a:solidFill>
            <a:prstDash val="solid"/>
            <a:round/>
            <a:headEnd type="none" w="sm" len="sm"/>
            <a:tailEnd type="none" w="sm" len="sm"/>
          </a:ln>
        </p:spPr>
      </p:cxnSp>
      <p:sp>
        <p:nvSpPr>
          <p:cNvPr id="197" name="Google Shape;197;p20"/>
          <p:cNvSpPr/>
          <p:nvPr/>
        </p:nvSpPr>
        <p:spPr>
          <a:xfrm>
            <a:off x="2571750" y="4207242"/>
            <a:ext cx="797933" cy="643808"/>
          </a:xfrm>
          <a:custGeom>
            <a:avLst/>
            <a:gdLst/>
            <a:ahLst/>
            <a:cxnLst/>
            <a:rect l="l" t="t" r="r" b="b"/>
            <a:pathLst>
              <a:path w="797933" h="643808" extrusionOk="0">
                <a:moveTo>
                  <a:pt x="0" y="0"/>
                </a:moveTo>
                <a:lnTo>
                  <a:pt x="797933" y="0"/>
                </a:lnTo>
                <a:lnTo>
                  <a:pt x="797933" y="643808"/>
                </a:lnTo>
                <a:lnTo>
                  <a:pt x="0" y="643808"/>
                </a:lnTo>
                <a:lnTo>
                  <a:pt x="0" y="0"/>
                </a:lnTo>
                <a:close/>
              </a:path>
            </a:pathLst>
          </a:custGeom>
          <a:blipFill rotWithShape="1">
            <a:blip r:embed="rId4">
              <a:alphaModFix/>
            </a:blip>
            <a:stretch>
              <a:fillRect/>
            </a:stretch>
          </a:blipFill>
          <a:ln>
            <a:noFill/>
          </a:ln>
        </p:spPr>
      </p:sp>
      <p:sp>
        <p:nvSpPr>
          <p:cNvPr id="198" name="Google Shape;198;p20"/>
          <p:cNvSpPr/>
          <p:nvPr/>
        </p:nvSpPr>
        <p:spPr>
          <a:xfrm>
            <a:off x="7176135" y="4207242"/>
            <a:ext cx="747034" cy="643808"/>
          </a:xfrm>
          <a:custGeom>
            <a:avLst/>
            <a:gdLst/>
            <a:ahLst/>
            <a:cxnLst/>
            <a:rect l="l" t="t" r="r" b="b"/>
            <a:pathLst>
              <a:path w="747034" h="643808" extrusionOk="0">
                <a:moveTo>
                  <a:pt x="0" y="0"/>
                </a:moveTo>
                <a:lnTo>
                  <a:pt x="747034" y="0"/>
                </a:lnTo>
                <a:lnTo>
                  <a:pt x="747034" y="643808"/>
                </a:lnTo>
                <a:lnTo>
                  <a:pt x="0" y="643808"/>
                </a:lnTo>
                <a:lnTo>
                  <a:pt x="0" y="0"/>
                </a:lnTo>
                <a:close/>
              </a:path>
            </a:pathLst>
          </a:custGeom>
          <a:blipFill rotWithShape="1">
            <a:blip r:embed="rId5">
              <a:alphaModFix/>
            </a:blip>
            <a:stretch>
              <a:fillRect/>
            </a:stretch>
          </a:blipFill>
          <a:ln>
            <a:noFill/>
          </a:ln>
        </p:spPr>
      </p:sp>
      <p:sp>
        <p:nvSpPr>
          <p:cNvPr id="199" name="Google Shape;199;p20"/>
          <p:cNvSpPr/>
          <p:nvPr/>
        </p:nvSpPr>
        <p:spPr>
          <a:xfrm>
            <a:off x="11778615" y="4207242"/>
            <a:ext cx="804706" cy="643808"/>
          </a:xfrm>
          <a:custGeom>
            <a:avLst/>
            <a:gdLst/>
            <a:ahLst/>
            <a:cxnLst/>
            <a:rect l="l" t="t" r="r" b="b"/>
            <a:pathLst>
              <a:path w="804706" h="643808" extrusionOk="0">
                <a:moveTo>
                  <a:pt x="0" y="0"/>
                </a:moveTo>
                <a:lnTo>
                  <a:pt x="804706" y="0"/>
                </a:lnTo>
                <a:lnTo>
                  <a:pt x="804706" y="643808"/>
                </a:lnTo>
                <a:lnTo>
                  <a:pt x="0" y="643808"/>
                </a:lnTo>
                <a:lnTo>
                  <a:pt x="0" y="0"/>
                </a:lnTo>
                <a:close/>
              </a:path>
            </a:pathLst>
          </a:custGeom>
          <a:blipFill rotWithShape="1">
            <a:blip r:embed="rId6">
              <a:alphaModFix/>
            </a:blip>
            <a:stretch>
              <a:fillRect/>
            </a:stretch>
          </a:blipFill>
          <a:ln>
            <a:noFill/>
          </a:ln>
        </p:spPr>
      </p:sp>
      <p:sp>
        <p:nvSpPr>
          <p:cNvPr id="200" name="Google Shape;200;p20"/>
          <p:cNvSpPr txBox="1"/>
          <p:nvPr/>
        </p:nvSpPr>
        <p:spPr>
          <a:xfrm>
            <a:off x="2571750" y="1953382"/>
            <a:ext cx="9465352"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POTENTIAL IMPACT &amp; USERS</a:t>
            </a:r>
          </a:p>
        </p:txBody>
      </p:sp>
      <p:sp>
        <p:nvSpPr>
          <p:cNvPr id="201" name="Google Shape;201;p20"/>
          <p:cNvSpPr txBox="1"/>
          <p:nvPr/>
        </p:nvSpPr>
        <p:spPr>
          <a:xfrm>
            <a:off x="2571750" y="5113672"/>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Kenyan Merchants (SMEs)</a:t>
            </a:r>
          </a:p>
        </p:txBody>
      </p:sp>
      <p:sp>
        <p:nvSpPr>
          <p:cNvPr id="202" name="Google Shape;202;p20"/>
          <p:cNvSpPr txBox="1"/>
          <p:nvPr/>
        </p:nvSpPr>
        <p:spPr>
          <a:xfrm>
            <a:off x="7176135" y="5113672"/>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a:solidFill>
                  <a:schemeClr val="bg1"/>
                </a:solidFill>
                <a:latin typeface="Poppins Light" panose="00000400000000000000" pitchFamily="2" charset="0"/>
                <a:cs typeface="Poppins Light" panose="00000400000000000000" pitchFamily="2" charset="0"/>
              </a:rPr>
              <a:t>Everyday Shoppers</a:t>
            </a:r>
          </a:p>
        </p:txBody>
      </p:sp>
      <p:sp>
        <p:nvSpPr>
          <p:cNvPr id="203" name="Google Shape;203;p20"/>
          <p:cNvSpPr txBox="1"/>
          <p:nvPr/>
        </p:nvSpPr>
        <p:spPr>
          <a:xfrm>
            <a:off x="11778615" y="5115788"/>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Regulators &amp; Ecosystem</a:t>
            </a:r>
          </a:p>
        </p:txBody>
      </p:sp>
      <p:sp>
        <p:nvSpPr>
          <p:cNvPr id="204" name="Google Shape;204;p20"/>
          <p:cNvSpPr txBox="1"/>
          <p:nvPr/>
        </p:nvSpPr>
        <p:spPr>
          <a:xfrm>
            <a:off x="2571750" y="6357905"/>
            <a:ext cx="3937635" cy="24622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Over 100,000 SMEs selling on Instagram and TikTok. Halisi acts as their automated Brand Protection / Content ID, monitoring look-alike handles, stopping clone revenue theft, and defending customer trust with Halisi Verified certificates.</a:t>
            </a:r>
          </a:p>
        </p:txBody>
      </p:sp>
      <p:sp>
        <p:nvSpPr>
          <p:cNvPr id="205" name="Google Shape;205;p20"/>
          <p:cNvSpPr txBox="1"/>
          <p:nvPr/>
        </p:nvSpPr>
        <p:spPr>
          <a:xfrm>
            <a:off x="7176135" y="6357905"/>
            <a:ext cx="3937635" cy="276998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Millions of Kenyan mobile money consumers. The zero-friction 'Check before you Lipa' single-field scanner empowers buyers to verify any handle or Till in seconds, completely eliminating blind payments to fraudsters.</a:t>
            </a:r>
          </a:p>
          <a:p>
            <a:pPr marL="0" marR="0" lvl="0" indent="0" algn="l" rtl="0">
              <a:spcBef>
                <a:spcPts val="0"/>
              </a:spcBef>
              <a:spcAft>
                <a:spcPts val="0"/>
              </a:spcAft>
              <a:buNone/>
            </a:pPr>
            <a:endParaRPr sz="2000" b="0" i="0" u="none" strike="noStrike" cap="none">
              <a:solidFill>
                <a:schemeClr val="bg1"/>
              </a:solidFill>
              <a:latin typeface="Poppins Light" panose="00000400000000000000" pitchFamily="2" charset="0"/>
              <a:ea typeface="Poppins Light"/>
              <a:cs typeface="Poppins Light" panose="00000400000000000000" pitchFamily="2" charset="0"/>
              <a:sym typeface="Poppins Light"/>
            </a:endParaRPr>
          </a:p>
        </p:txBody>
      </p:sp>
      <p:sp>
        <p:nvSpPr>
          <p:cNvPr id="206" name="Google Shape;206;p20"/>
          <p:cNvSpPr txBox="1"/>
          <p:nvPr/>
        </p:nvSpPr>
        <p:spPr>
          <a:xfrm>
            <a:off x="11778615" y="6357905"/>
            <a:ext cx="3937635" cy="24622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Trust &amp; Safety teams at Meta and TikTok, plus KE-CIRT/CC, CAK, and Safaricom Fraud. Halisi replaces vague user complaints with structured, cryptographically validated evidence packs ready for immediate enforcement.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0"/>
        <p:cNvGrpSpPr/>
        <p:nvPr/>
      </p:nvGrpSpPr>
      <p:grpSpPr>
        <a:xfrm>
          <a:off x="0" y="0"/>
          <a:ext cx="0" cy="0"/>
          <a:chOff x="0" y="0"/>
          <a:chExt cx="0" cy="0"/>
        </a:xfrm>
      </p:grpSpPr>
      <p:sp>
        <p:nvSpPr>
          <p:cNvPr id="211" name="Google Shape;211;p21"/>
          <p:cNvSpPr/>
          <p:nvPr/>
        </p:nvSpPr>
        <p:spPr>
          <a:xfrm>
            <a:off x="-691374" y="730732"/>
            <a:ext cx="20814942" cy="8825535"/>
          </a:xfrm>
          <a:custGeom>
            <a:avLst/>
            <a:gdLst/>
            <a:ahLst/>
            <a:cxnLst/>
            <a:rect l="l" t="t" r="r" b="b"/>
            <a:pathLst>
              <a:path w="20814942" h="8825535" extrusionOk="0">
                <a:moveTo>
                  <a:pt x="0" y="0"/>
                </a:moveTo>
                <a:lnTo>
                  <a:pt x="20814942" y="0"/>
                </a:lnTo>
                <a:lnTo>
                  <a:pt x="20814942" y="8825536"/>
                </a:lnTo>
                <a:lnTo>
                  <a:pt x="0" y="8825536"/>
                </a:lnTo>
                <a:lnTo>
                  <a:pt x="0" y="0"/>
                </a:lnTo>
                <a:close/>
              </a:path>
            </a:pathLst>
          </a:custGeom>
          <a:blipFill rotWithShape="1">
            <a:blip r:embed="rId3">
              <a:alphaModFix amt="60000"/>
            </a:blip>
            <a:stretch>
              <a:fillRect/>
            </a:stretch>
          </a:blipFill>
          <a:ln>
            <a:noFill/>
          </a:ln>
        </p:spPr>
        <p:txBody>
          <a:bodyPr/>
          <a:lstStyle/>
          <a:p>
            <a:endParaRPr lang="en-GB" dirty="0"/>
          </a:p>
        </p:txBody>
      </p:sp>
      <p:cxnSp>
        <p:nvCxnSpPr>
          <p:cNvPr id="212" name="Google Shape;212;p21"/>
          <p:cNvCxnSpPr/>
          <p:nvPr/>
        </p:nvCxnSpPr>
        <p:spPr>
          <a:xfrm>
            <a:off x="2651845" y="2814399"/>
            <a:ext cx="567898" cy="0"/>
          </a:xfrm>
          <a:prstGeom prst="straightConnector1">
            <a:avLst/>
          </a:prstGeom>
          <a:noFill/>
          <a:ln w="38100" cap="flat" cmpd="sng">
            <a:solidFill>
              <a:srgbClr val="D2B99A"/>
            </a:solidFill>
            <a:prstDash val="solid"/>
            <a:round/>
            <a:headEnd type="none" w="sm" len="sm"/>
            <a:tailEnd type="none" w="sm" len="sm"/>
          </a:ln>
        </p:spPr>
      </p:cxnSp>
      <p:sp>
        <p:nvSpPr>
          <p:cNvPr id="213" name="Google Shape;213;p21"/>
          <p:cNvSpPr txBox="1"/>
          <p:nvPr/>
        </p:nvSpPr>
        <p:spPr>
          <a:xfrm>
            <a:off x="2571750" y="1952625"/>
            <a:ext cx="8371070"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THE TEAM &amp; ROLES</a:t>
            </a:r>
          </a:p>
        </p:txBody>
      </p:sp>
      <p:sp>
        <p:nvSpPr>
          <p:cNvPr id="214" name="Google Shape;214;p21"/>
          <p:cNvSpPr txBox="1"/>
          <p:nvPr/>
        </p:nvSpPr>
        <p:spPr>
          <a:xfrm>
            <a:off x="3973104" y="3445062"/>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b="1" dirty="0" err="1">
                <a:solidFill>
                  <a:schemeClr val="bg1"/>
                </a:solidFill>
                <a:latin typeface="Aharoni" panose="02010803020104030203" pitchFamily="2" charset="-79"/>
                <a:cs typeface="Aharoni" panose="02010803020104030203" pitchFamily="2" charset="-79"/>
              </a:rPr>
              <a:t>Siganga</a:t>
            </a:r>
            <a:r>
              <a:rPr sz="2400" b="1" dirty="0">
                <a:solidFill>
                  <a:schemeClr val="bg1"/>
                </a:solidFill>
                <a:latin typeface="Aharoni" panose="02010803020104030203" pitchFamily="2" charset="-79"/>
                <a:cs typeface="Aharoni" panose="02010803020104030203" pitchFamily="2" charset="-79"/>
              </a:rPr>
              <a:t> Ndegwa</a:t>
            </a:r>
          </a:p>
        </p:txBody>
      </p:sp>
      <p:sp>
        <p:nvSpPr>
          <p:cNvPr id="215" name="Google Shape;215;p21"/>
          <p:cNvSpPr txBox="1"/>
          <p:nvPr/>
        </p:nvSpPr>
        <p:spPr>
          <a:xfrm>
            <a:off x="3973104" y="3997189"/>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dirty="0">
                <a:solidFill>
                  <a:schemeClr val="bg1"/>
                </a:solidFill>
                <a:latin typeface="Poppins Light" panose="00000400000000000000" pitchFamily="2" charset="0"/>
                <a:cs typeface="Poppins Light" panose="00000400000000000000" pitchFamily="2" charset="0"/>
              </a:rPr>
              <a:t>Frontend Architecture · Apple Design Interface &amp; Data Layer</a:t>
            </a:r>
          </a:p>
        </p:txBody>
      </p:sp>
      <p:sp>
        <p:nvSpPr>
          <p:cNvPr id="216" name="Google Shape;216;p21"/>
          <p:cNvSpPr txBox="1"/>
          <p:nvPr/>
        </p:nvSpPr>
        <p:spPr>
          <a:xfrm>
            <a:off x="2651845" y="3107098"/>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a:solidFill>
                  <a:srgbClr val="FFFFFF"/>
                </a:solidFill>
                <a:latin typeface="Poppins Light"/>
                <a:ea typeface="Poppins Light"/>
                <a:cs typeface="Poppins Light"/>
                <a:sym typeface="Poppins Light"/>
              </a:rPr>
              <a:t>01</a:t>
            </a:r>
            <a:endParaRPr/>
          </a:p>
        </p:txBody>
      </p:sp>
      <p:sp>
        <p:nvSpPr>
          <p:cNvPr id="217" name="Google Shape;217;p21"/>
          <p:cNvSpPr txBox="1"/>
          <p:nvPr/>
        </p:nvSpPr>
        <p:spPr>
          <a:xfrm>
            <a:off x="11715461" y="4919379"/>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dirty="0">
                <a:solidFill>
                  <a:schemeClr val="bg1"/>
                </a:solidFill>
                <a:latin typeface="Aharoni" panose="02010803020104030203" pitchFamily="2" charset="-79"/>
                <a:cs typeface="Aharoni" panose="02010803020104030203" pitchFamily="2" charset="-79"/>
              </a:rPr>
              <a:t>Collins Kimanzi</a:t>
            </a:r>
          </a:p>
        </p:txBody>
      </p:sp>
      <p:sp>
        <p:nvSpPr>
          <p:cNvPr id="218" name="Google Shape;218;p21"/>
          <p:cNvSpPr txBox="1"/>
          <p:nvPr/>
        </p:nvSpPr>
        <p:spPr>
          <a:xfrm>
            <a:off x="11715461" y="5471506"/>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a:solidFill>
                  <a:schemeClr val="bg1"/>
                </a:solidFill>
                <a:latin typeface="Poppins Light" panose="00000400000000000000" pitchFamily="2" charset="0"/>
                <a:cs typeface="Poppins Light" panose="00000400000000000000" pitchFamily="2" charset="0"/>
              </a:rPr>
              <a:t>Project Lead · Detection Engine, CLIP AI &amp; Composite Scorer</a:t>
            </a:r>
          </a:p>
        </p:txBody>
      </p:sp>
      <p:sp>
        <p:nvSpPr>
          <p:cNvPr id="219" name="Google Shape;219;p21"/>
          <p:cNvSpPr txBox="1"/>
          <p:nvPr/>
        </p:nvSpPr>
        <p:spPr>
          <a:xfrm>
            <a:off x="10394202" y="4596406"/>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dirty="0">
                <a:solidFill>
                  <a:srgbClr val="FFFFFF"/>
                </a:solidFill>
                <a:latin typeface="Poppins Light"/>
                <a:ea typeface="Poppins Light"/>
                <a:cs typeface="Poppins Light"/>
                <a:sym typeface="Poppins Light"/>
              </a:rPr>
              <a:t>02</a:t>
            </a:r>
            <a:endParaRPr dirty="0"/>
          </a:p>
        </p:txBody>
      </p:sp>
      <p:sp>
        <p:nvSpPr>
          <p:cNvPr id="220" name="Google Shape;220;p21"/>
          <p:cNvSpPr txBox="1"/>
          <p:nvPr/>
        </p:nvSpPr>
        <p:spPr>
          <a:xfrm>
            <a:off x="3893009" y="6939711"/>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dirty="0">
                <a:solidFill>
                  <a:schemeClr val="bg1"/>
                </a:solidFill>
                <a:latin typeface="Aharoni" panose="02010803020104030203" pitchFamily="2" charset="-79"/>
                <a:cs typeface="Aharoni" panose="02010803020104030203" pitchFamily="2" charset="-79"/>
              </a:rPr>
              <a:t>Geoffrey Obwocha</a:t>
            </a:r>
          </a:p>
        </p:txBody>
      </p:sp>
      <p:sp>
        <p:nvSpPr>
          <p:cNvPr id="221" name="Google Shape;221;p21"/>
          <p:cNvSpPr txBox="1"/>
          <p:nvPr/>
        </p:nvSpPr>
        <p:spPr>
          <a:xfrm>
            <a:off x="3893009" y="7491838"/>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a:solidFill>
                  <a:schemeClr val="bg1"/>
                </a:solidFill>
                <a:latin typeface="Poppins Light" panose="00000400000000000000" pitchFamily="2" charset="0"/>
                <a:cs typeface="Poppins Light" panose="00000400000000000000" pitchFamily="2" charset="0"/>
              </a:rPr>
              <a:t>Backend API · Supabase pgvector, Distributed Crawler &amp; Alerts</a:t>
            </a:r>
            <a:endParaRPr sz="2000" dirty="0">
              <a:solidFill>
                <a:schemeClr val="bg1"/>
              </a:solidFill>
              <a:latin typeface="Poppins Light" panose="00000400000000000000" pitchFamily="2" charset="0"/>
              <a:cs typeface="Poppins Light" panose="00000400000000000000" pitchFamily="2" charset="0"/>
            </a:endParaRPr>
          </a:p>
        </p:txBody>
      </p:sp>
      <p:sp>
        <p:nvSpPr>
          <p:cNvPr id="222" name="Google Shape;222;p21"/>
          <p:cNvSpPr txBox="1"/>
          <p:nvPr/>
        </p:nvSpPr>
        <p:spPr>
          <a:xfrm>
            <a:off x="2571750" y="6616737"/>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dirty="0">
                <a:solidFill>
                  <a:srgbClr val="FFFFFF"/>
                </a:solidFill>
                <a:latin typeface="Poppins Light"/>
                <a:ea typeface="Poppins Light"/>
                <a:cs typeface="Poppins Light"/>
                <a:sym typeface="Poppins Light"/>
              </a:rPr>
              <a:t>03</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26"/>
        <p:cNvGrpSpPr/>
        <p:nvPr/>
      </p:nvGrpSpPr>
      <p:grpSpPr>
        <a:xfrm>
          <a:off x="0" y="0"/>
          <a:ext cx="0" cy="0"/>
          <a:chOff x="0" y="0"/>
          <a:chExt cx="0" cy="0"/>
        </a:xfrm>
      </p:grpSpPr>
      <p:sp>
        <p:nvSpPr>
          <p:cNvPr id="227" name="Google Shape;227;p22"/>
          <p:cNvSpPr/>
          <p:nvPr/>
        </p:nvSpPr>
        <p:spPr>
          <a:xfrm flipH="1">
            <a:off x="-313707" y="1465775"/>
            <a:ext cx="18601707" cy="7887124"/>
          </a:xfrm>
          <a:custGeom>
            <a:avLst/>
            <a:gdLst/>
            <a:ahLst/>
            <a:cxnLst/>
            <a:rect l="l" t="t" r="r" b="b"/>
            <a:pathLst>
              <a:path w="18601707" h="7887124" extrusionOk="0">
                <a:moveTo>
                  <a:pt x="18601707" y="0"/>
                </a:moveTo>
                <a:lnTo>
                  <a:pt x="0" y="0"/>
                </a:lnTo>
                <a:lnTo>
                  <a:pt x="0" y="7887123"/>
                </a:lnTo>
                <a:lnTo>
                  <a:pt x="18601707" y="7887123"/>
                </a:lnTo>
                <a:lnTo>
                  <a:pt x="18601707" y="0"/>
                </a:lnTo>
                <a:close/>
              </a:path>
            </a:pathLst>
          </a:custGeom>
          <a:blipFill rotWithShape="1">
            <a:blip r:embed="rId3">
              <a:alphaModFix amt="60000"/>
            </a:blip>
            <a:stretch>
              <a:fillRect/>
            </a:stretch>
          </a:blipFill>
          <a:ln>
            <a:noFill/>
          </a:ln>
        </p:spPr>
        <p:txBody>
          <a:bodyPr/>
          <a:lstStyle/>
          <a:p>
            <a:endParaRPr lang="en-GB" dirty="0"/>
          </a:p>
        </p:txBody>
      </p:sp>
      <p:cxnSp>
        <p:nvCxnSpPr>
          <p:cNvPr id="228" name="Google Shape;228;p22"/>
          <p:cNvCxnSpPr/>
          <p:nvPr/>
        </p:nvCxnSpPr>
        <p:spPr>
          <a:xfrm>
            <a:off x="1867210" y="2327549"/>
            <a:ext cx="567898" cy="0"/>
          </a:xfrm>
          <a:prstGeom prst="straightConnector1">
            <a:avLst/>
          </a:prstGeom>
          <a:noFill/>
          <a:ln w="38100" cap="flat" cmpd="sng">
            <a:solidFill>
              <a:srgbClr val="D2B99A"/>
            </a:solidFill>
            <a:prstDash val="solid"/>
            <a:round/>
            <a:headEnd type="none" w="sm" len="sm"/>
            <a:tailEnd type="none" w="sm" len="sm"/>
          </a:ln>
        </p:spPr>
      </p:cxnSp>
      <p:sp>
        <p:nvSpPr>
          <p:cNvPr id="229" name="Google Shape;229;p22"/>
          <p:cNvSpPr txBox="1"/>
          <p:nvPr/>
        </p:nvSpPr>
        <p:spPr>
          <a:xfrm>
            <a:off x="1867210" y="3705420"/>
            <a:ext cx="8011307" cy="4308872"/>
          </a:xfrm>
          <a:prstGeom prst="rect">
            <a:avLst/>
          </a:prstGeom>
          <a:noFill/>
          <a:ln>
            <a:noFill/>
          </a:ln>
        </p:spPr>
        <p:txBody>
          <a:bodyPr spcFirstLastPara="1" wrap="square" lIns="0" tIns="0" rIns="0" bIns="0" anchor="t" anchorCtr="0">
            <a:spAutoFit/>
          </a:bodyPr>
          <a:lstStyle/>
          <a:p>
            <a:r>
              <a:rPr lang="en-US" sz="2000" dirty="0">
                <a:solidFill>
                  <a:schemeClr val="bg1"/>
                </a:solidFill>
                <a:latin typeface="Poppins Light" panose="00000400000000000000" pitchFamily="2" charset="0"/>
                <a:cs typeface="Poppins Light" panose="00000400000000000000" pitchFamily="2" charset="0"/>
              </a:rPr>
              <a:t>Layer 1 is a free public consumer utility driving viral adoption and scam telemetry. Layer 2 is B2B SaaS for Kenyan businesses ($15–$50/</a:t>
            </a:r>
            <a:r>
              <a:rPr lang="en-US" sz="2000" dirty="0" err="1">
                <a:solidFill>
                  <a:schemeClr val="bg1"/>
                </a:solidFill>
                <a:latin typeface="Poppins Light" panose="00000400000000000000" pitchFamily="2" charset="0"/>
                <a:cs typeface="Poppins Light" panose="00000400000000000000" pitchFamily="2" charset="0"/>
              </a:rPr>
              <a:t>mo</a:t>
            </a:r>
            <a:r>
              <a:rPr lang="en-US" sz="2000" dirty="0">
                <a:solidFill>
                  <a:schemeClr val="bg1"/>
                </a:solidFill>
                <a:latin typeface="Poppins Light" panose="00000400000000000000" pitchFamily="2" charset="0"/>
                <a:cs typeface="Poppins Light" panose="00000400000000000000" pitchFamily="2" charset="0"/>
              </a:rPr>
              <a:t>) providing 24/7 clone monitoring, instant threat alerts, and automated takedown packages.</a:t>
            </a:r>
          </a:p>
          <a:p>
            <a:endParaRPr sz="2000" dirty="0">
              <a:latin typeface="Poppins Light" panose="00000400000000000000" pitchFamily="2" charset="0"/>
              <a:cs typeface="Poppins Light" panose="00000400000000000000" pitchFamily="2" charset="0"/>
            </a:endParaRPr>
          </a:p>
          <a:p>
            <a:pPr>
              <a:defRPr sz="1450">
                <a:solidFill>
                  <a:srgbClr val="FFFFFF"/>
                </a:solidFill>
                <a:latin typeface="Poppins"/>
              </a:defRPr>
            </a:pPr>
            <a:r>
              <a:rPr sz="2000" dirty="0">
                <a:latin typeface="Poppins Light" panose="00000400000000000000" pitchFamily="2" charset="0"/>
                <a:cs typeface="Poppins Light" panose="00000400000000000000" pitchFamily="2" charset="0"/>
              </a:rPr>
              <a:t>Preventing a single clone attack saves a merchant hundreds of thousands of KSh in diverted sales and preserves customer lifetime value. Additional monetization includes B2B API verification licensing for fintechs, banks, and e-commerce checkouts.</a:t>
            </a:r>
          </a:p>
          <a:p>
            <a:endParaRPr sz="2000" dirty="0">
              <a:latin typeface="Poppins Light" panose="00000400000000000000" pitchFamily="2" charset="0"/>
              <a:cs typeface="Poppins Light" panose="00000400000000000000" pitchFamily="2" charset="0"/>
            </a:endParaRPr>
          </a:p>
          <a:p>
            <a:pPr>
              <a:defRPr sz="1450">
                <a:solidFill>
                  <a:srgbClr val="FFFFFF"/>
                </a:solidFill>
                <a:latin typeface="Poppins"/>
              </a:defRPr>
            </a:pPr>
            <a:r>
              <a:rPr sz="2000" dirty="0">
                <a:latin typeface="Poppins Light" panose="00000400000000000000" pitchFamily="2" charset="0"/>
                <a:cs typeface="Poppins Light" panose="00000400000000000000" pitchFamily="2" charset="0"/>
              </a:rPr>
              <a:t>Direct Meta Rights Manager API automated takedowns, live Safaricom Daraja M-Pesa owner validation, and regional expansion across East Africa's mobile commerce corridor.</a:t>
            </a:r>
          </a:p>
        </p:txBody>
      </p:sp>
      <p:pic>
        <p:nvPicPr>
          <p:cNvPr id="231" name="Google Shape;231;p22"/>
          <p:cNvPicPr preferRelativeResize="0"/>
          <p:nvPr/>
        </p:nvPicPr>
        <p:blipFill rotWithShape="1">
          <a:blip r:embed="rId4">
            <a:alphaModFix/>
          </a:blip>
          <a:srcRect/>
          <a:stretch/>
        </p:blipFill>
        <p:spPr>
          <a:xfrm>
            <a:off x="10077643" y="2508527"/>
            <a:ext cx="6343146" cy="7379806"/>
          </a:xfrm>
          <a:prstGeom prst="rect">
            <a:avLst/>
          </a:prstGeom>
          <a:noFill/>
          <a:ln>
            <a:noFill/>
          </a:ln>
        </p:spPr>
      </p:pic>
      <p:sp>
        <p:nvSpPr>
          <p:cNvPr id="232" name="Google Shape;232;p22"/>
          <p:cNvSpPr txBox="1"/>
          <p:nvPr/>
        </p:nvSpPr>
        <p:spPr>
          <a:xfrm>
            <a:off x="1867211" y="1465775"/>
            <a:ext cx="13542678" cy="86177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4600"/>
            </a:pPr>
            <a:r>
              <a:rPr sz="5600" dirty="0">
                <a:solidFill>
                  <a:schemeClr val="bg1"/>
                </a:solidFill>
                <a:latin typeface="Poppins Light" panose="00000400000000000000" pitchFamily="2" charset="0"/>
                <a:cs typeface="Poppins Light" panose="00000400000000000000" pitchFamily="2" charset="0"/>
              </a:rPr>
              <a:t>BUSINESS MODEL &amp; ROAD AHEAD</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886</Words>
  <Application>Microsoft Office PowerPoint</Application>
  <PresentationFormat>Custom</PresentationFormat>
  <Paragraphs>66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 </vt:lpstr>
      <vt:lpstr>Calibri</vt:lpstr>
      <vt:lpstr>Poppins Light</vt:lpstr>
      <vt:lpstr>Aharoni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Geoffrey Obwocha</dc:creator>
  <cp:lastModifiedBy>Geoffrey Obwocha</cp:lastModifiedBy>
  <cp:revision>9</cp:revision>
  <dcterms:modified xsi:type="dcterms:W3CDTF">2026-10-30T05:08:12Z</dcterms:modified>
</cp:coreProperties>
</file>