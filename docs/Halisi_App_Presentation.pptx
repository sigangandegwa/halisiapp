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Lst>
  <p:sldSz cy="10287000" cx="18288000"/>
  <p:notesSz cx="6858000" cy="9144000"/>
  <p:embeddedFontLst>
    <p:embeddedFont>
      <p:font typeface="Arimo"/>
      <p:regular r:id="rId16"/>
      <p:bold r:id="rId17"/>
      <p:italic r:id="rId18"/>
      <p:boldItalic r:id="rId19"/>
    </p:embeddedFont>
    <p:embeddedFont>
      <p:font typeface="Poppins"/>
      <p:regular r:id="rId20"/>
      <p:bold r:id="rId21"/>
      <p:italic r:id="rId22"/>
      <p:boldItalic r:id="rId23"/>
    </p:embeddedFont>
    <p:embeddedFont>
      <p:font typeface="Poppins Light"/>
      <p:regular r:id="rId24"/>
      <p:bold r:id="rId25"/>
      <p:italic r:id="rId26"/>
      <p:boldItalic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Poppins-regular.fntdata"/><Relationship Id="rId22" Type="http://schemas.openxmlformats.org/officeDocument/2006/relationships/font" Target="fonts/Poppins-italic.fntdata"/><Relationship Id="rId21" Type="http://schemas.openxmlformats.org/officeDocument/2006/relationships/font" Target="fonts/Poppins-bold.fntdata"/><Relationship Id="rId24" Type="http://schemas.openxmlformats.org/officeDocument/2006/relationships/font" Target="fonts/PoppinsLight-regular.fntdata"/><Relationship Id="rId23" Type="http://schemas.openxmlformats.org/officeDocument/2006/relationships/font" Target="fonts/Poppins-bold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PoppinsLight-italic.fntdata"/><Relationship Id="rId25" Type="http://schemas.openxmlformats.org/officeDocument/2006/relationships/font" Target="fonts/PoppinsLight-bold.fntdata"/><Relationship Id="rId27" Type="http://schemas.openxmlformats.org/officeDocument/2006/relationships/font" Target="fonts/PoppinsLight-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font" Target="fonts/Arimo-bold.fntdata"/><Relationship Id="rId16" Type="http://schemas.openxmlformats.org/officeDocument/2006/relationships/font" Target="fonts/Arimo-regular.fntdata"/><Relationship Id="rId19" Type="http://schemas.openxmlformats.org/officeDocument/2006/relationships/font" Target="fonts/Arimo-boldItalic.fntdata"/><Relationship Id="rId18" Type="http://schemas.openxmlformats.org/officeDocument/2006/relationships/font" Target="fonts/Arimo-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4.jp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11.png"/><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14.png"/><Relationship Id="rId6"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83" name="Shape 83"/>
        <p:cNvGrpSpPr/>
        <p:nvPr/>
      </p:nvGrpSpPr>
      <p:grpSpPr>
        <a:xfrm>
          <a:off x="0" y="0"/>
          <a:ext cx="0" cy="0"/>
          <a:chOff x="0" y="0"/>
          <a:chExt cx="0" cy="0"/>
        </a:xfrm>
      </p:grpSpPr>
      <p:sp>
        <p:nvSpPr>
          <p:cNvPr id="84" name="Google Shape;84;p13"/>
          <p:cNvSpPr/>
          <p:nvPr/>
        </p:nvSpPr>
        <p:spPr>
          <a:xfrm>
            <a:off x="984134" y="1702613"/>
            <a:ext cx="16230600" cy="6881774"/>
          </a:xfrm>
          <a:custGeom>
            <a:rect b="b" l="l" r="r" t="t"/>
            <a:pathLst>
              <a:path extrusionOk="0" h="6881774" w="16230600">
                <a:moveTo>
                  <a:pt x="0" y="0"/>
                </a:moveTo>
                <a:lnTo>
                  <a:pt x="16230600" y="0"/>
                </a:lnTo>
                <a:lnTo>
                  <a:pt x="16230600" y="6881774"/>
                </a:lnTo>
                <a:lnTo>
                  <a:pt x="0" y="6881774"/>
                </a:lnTo>
                <a:lnTo>
                  <a:pt x="0" y="0"/>
                </a:lnTo>
                <a:close/>
              </a:path>
            </a:pathLst>
          </a:custGeom>
          <a:blipFill rotWithShape="1">
            <a:blip r:embed="rId3">
              <a:alphaModFix amt="60000"/>
            </a:blip>
            <a:stretch>
              <a:fillRect b="0" l="0" r="0" t="0"/>
            </a:stretch>
          </a:blipFill>
          <a:ln>
            <a:noFill/>
          </a:ln>
        </p:spPr>
      </p:sp>
      <p:sp>
        <p:nvSpPr>
          <p:cNvPr id="85" name="Google Shape;85;p13"/>
          <p:cNvSpPr/>
          <p:nvPr/>
        </p:nvSpPr>
        <p:spPr>
          <a:xfrm>
            <a:off x="2332850" y="2170794"/>
            <a:ext cx="2132461" cy="710820"/>
          </a:xfrm>
          <a:custGeom>
            <a:rect b="b" l="l" r="r" t="t"/>
            <a:pathLst>
              <a:path extrusionOk="0" h="710820" w="2132461">
                <a:moveTo>
                  <a:pt x="0" y="0"/>
                </a:moveTo>
                <a:lnTo>
                  <a:pt x="2132461" y="0"/>
                </a:lnTo>
                <a:lnTo>
                  <a:pt x="2132461" y="710820"/>
                </a:lnTo>
                <a:lnTo>
                  <a:pt x="0" y="710820"/>
                </a:lnTo>
                <a:lnTo>
                  <a:pt x="0" y="0"/>
                </a:lnTo>
                <a:close/>
              </a:path>
            </a:pathLst>
          </a:custGeom>
          <a:blipFill rotWithShape="1">
            <a:blip r:embed="rId4">
              <a:alphaModFix/>
            </a:blip>
            <a:stretch>
              <a:fillRect b="0" l="0" r="0" t="0"/>
            </a:stretch>
          </a:blipFill>
          <a:ln>
            <a:noFill/>
          </a:ln>
        </p:spPr>
      </p:sp>
      <p:sp>
        <p:nvSpPr>
          <p:cNvPr id="86" name="Google Shape;86;p13"/>
          <p:cNvSpPr txBox="1"/>
          <p:nvPr/>
        </p:nvSpPr>
        <p:spPr>
          <a:xfrm>
            <a:off x="2571750" y="3496256"/>
            <a:ext cx="6750721" cy="341820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2699" u="none" cap="none" strike="noStrike">
                <a:solidFill>
                  <a:srgbClr val="FFFFFF"/>
                </a:solidFill>
                <a:latin typeface="Poppins"/>
                <a:ea typeface="Poppins"/>
                <a:cs typeface="Poppins"/>
                <a:sym typeface="Poppins"/>
              </a:rPr>
              <a:t>HALISI</a:t>
            </a:r>
            <a:endParaRPr/>
          </a:p>
          <a:p>
            <a:pPr indent="0" lvl="0" marL="0" marR="0" rtl="0" algn="l">
              <a:lnSpc>
                <a:spcPct val="100000"/>
              </a:lnSpc>
              <a:spcBef>
                <a:spcPts val="0"/>
              </a:spcBef>
              <a:spcAft>
                <a:spcPts val="0"/>
              </a:spcAft>
              <a:buNone/>
            </a:pPr>
            <a:r>
              <a:rPr b="0" i="0" lang="en-US" sz="12699" u="none" cap="none" strike="noStrike">
                <a:solidFill>
                  <a:srgbClr val="FFFFFF"/>
                </a:solidFill>
                <a:latin typeface="Poppins"/>
                <a:ea typeface="Poppins"/>
                <a:cs typeface="Poppins"/>
                <a:sym typeface="Poppins"/>
              </a:rPr>
              <a:t>APP</a:t>
            </a:r>
            <a:endParaRPr/>
          </a:p>
        </p:txBody>
      </p:sp>
      <p:sp>
        <p:nvSpPr>
          <p:cNvPr id="87" name="Google Shape;87;p13"/>
          <p:cNvSpPr txBox="1"/>
          <p:nvPr/>
        </p:nvSpPr>
        <p:spPr>
          <a:xfrm>
            <a:off x="2571750" y="8114719"/>
            <a:ext cx="1893561" cy="26479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800" u="none" cap="none" strike="noStrike">
                <a:solidFill>
                  <a:srgbClr val="FFFFFF"/>
                </a:solidFill>
                <a:latin typeface="Poppins"/>
                <a:ea typeface="Poppins"/>
                <a:cs typeface="Poppins"/>
                <a:sym typeface="Poppins"/>
              </a:rPr>
              <a:t>SEPTEMBER 2026</a:t>
            </a:r>
            <a:endParaRPr/>
          </a:p>
        </p:txBody>
      </p:sp>
      <p:sp>
        <p:nvSpPr>
          <p:cNvPr id="88" name="Google Shape;88;p13"/>
          <p:cNvSpPr txBox="1"/>
          <p:nvPr/>
        </p:nvSpPr>
        <p:spPr>
          <a:xfrm>
            <a:off x="13006902" y="7640374"/>
            <a:ext cx="3787080" cy="872490"/>
          </a:xfrm>
          <a:prstGeom prst="rect">
            <a:avLst/>
          </a:prstGeom>
          <a:noFill/>
          <a:ln>
            <a:noFill/>
          </a:ln>
        </p:spPr>
        <p:txBody>
          <a:bodyPr anchorCtr="0" anchor="t" bIns="0" lIns="0" spcFirstLastPara="1" rIns="0" wrap="square" tIns="0">
            <a:spAutoFit/>
          </a:bodyPr>
          <a:lstStyle/>
          <a:p>
            <a:pPr indent="0" lvl="0" marL="0" marR="0" rtl="0" algn="l">
              <a:lnSpc>
                <a:spcPct val="200047"/>
              </a:lnSpc>
              <a:spcBef>
                <a:spcPts val="0"/>
              </a:spcBef>
              <a:spcAft>
                <a:spcPts val="0"/>
              </a:spcAft>
              <a:buNone/>
            </a:pPr>
            <a:r>
              <a:rPr b="0" i="0" lang="en-US" sz="2099" u="none" cap="none" strike="noStrike">
                <a:solidFill>
                  <a:srgbClr val="FFFFFF"/>
                </a:solidFill>
                <a:latin typeface="Arimo"/>
                <a:ea typeface="Arimo"/>
                <a:cs typeface="Arimo"/>
                <a:sym typeface="Arimo"/>
              </a:rPr>
              <a:t>By Halisi Group</a:t>
            </a:r>
            <a:endParaRPr/>
          </a:p>
          <a:p>
            <a:pPr indent="0" lvl="0" marL="0" marR="0" rtl="0" algn="l">
              <a:lnSpc>
                <a:spcPct val="100000"/>
              </a:lnSpc>
              <a:spcBef>
                <a:spcPts val="0"/>
              </a:spcBef>
              <a:spcAft>
                <a:spcPts val="0"/>
              </a:spcAft>
              <a:buNone/>
            </a:pPr>
            <a:r>
              <a:rPr b="0" i="0" lang="en-US" sz="2099" u="none" cap="none" strike="noStrike">
                <a:solidFill>
                  <a:srgbClr val="FFFFFF"/>
                </a:solidFill>
                <a:latin typeface="Arimo"/>
                <a:ea typeface="Arimo"/>
                <a:cs typeface="Arimo"/>
                <a:sym typeface="Arimo"/>
              </a:rPr>
              <a:t>For GOMYCODE HACKATHON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92" name="Shape 92"/>
        <p:cNvGrpSpPr/>
        <p:nvPr/>
      </p:nvGrpSpPr>
      <p:grpSpPr>
        <a:xfrm>
          <a:off x="0" y="0"/>
          <a:ext cx="0" cy="0"/>
          <a:chOff x="0" y="0"/>
          <a:chExt cx="0" cy="0"/>
        </a:xfrm>
      </p:grpSpPr>
      <p:sp>
        <p:nvSpPr>
          <p:cNvPr id="93" name="Google Shape;93;p14"/>
          <p:cNvSpPr txBox="1"/>
          <p:nvPr/>
        </p:nvSpPr>
        <p:spPr>
          <a:xfrm>
            <a:off x="2571750" y="1952625"/>
            <a:ext cx="7026020" cy="799519"/>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5600" u="none" cap="none" strike="noStrike">
                <a:solidFill>
                  <a:srgbClr val="FFFFFF"/>
                </a:solidFill>
                <a:latin typeface="Poppins Light"/>
                <a:ea typeface="Poppins Light"/>
                <a:cs typeface="Poppins Light"/>
                <a:sym typeface="Poppins Light"/>
              </a:rPr>
              <a:t>TABLE OF CONTENTS</a:t>
            </a:r>
            <a:endParaRPr/>
          </a:p>
        </p:txBody>
      </p:sp>
      <p:sp>
        <p:nvSpPr>
          <p:cNvPr id="94" name="Google Shape;94;p14"/>
          <p:cNvSpPr/>
          <p:nvPr/>
        </p:nvSpPr>
        <p:spPr>
          <a:xfrm>
            <a:off x="-977686" y="2980744"/>
            <a:ext cx="20814942" cy="8825535"/>
          </a:xfrm>
          <a:custGeom>
            <a:rect b="b" l="l" r="r" t="t"/>
            <a:pathLst>
              <a:path extrusionOk="0" h="8825535" w="20814942">
                <a:moveTo>
                  <a:pt x="0" y="0"/>
                </a:moveTo>
                <a:lnTo>
                  <a:pt x="20814942" y="0"/>
                </a:lnTo>
                <a:lnTo>
                  <a:pt x="20814942" y="8825536"/>
                </a:lnTo>
                <a:lnTo>
                  <a:pt x="0" y="8825536"/>
                </a:lnTo>
                <a:lnTo>
                  <a:pt x="0" y="0"/>
                </a:lnTo>
                <a:close/>
              </a:path>
            </a:pathLst>
          </a:custGeom>
          <a:blipFill rotWithShape="1">
            <a:blip r:embed="rId3">
              <a:alphaModFix amt="60000"/>
            </a:blip>
            <a:stretch>
              <a:fillRect b="0" l="0" r="0" t="0"/>
            </a:stretch>
          </a:blipFill>
          <a:ln>
            <a:noFill/>
          </a:ln>
        </p:spPr>
      </p:sp>
      <p:sp>
        <p:nvSpPr>
          <p:cNvPr id="95" name="Google Shape;95;p14"/>
          <p:cNvSpPr txBox="1"/>
          <p:nvPr/>
        </p:nvSpPr>
        <p:spPr>
          <a:xfrm>
            <a:off x="2571750" y="4057069"/>
            <a:ext cx="369094" cy="45278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3200" u="none" cap="none" strike="noStrike">
                <a:solidFill>
                  <a:srgbClr val="FFFFFF"/>
                </a:solidFill>
                <a:latin typeface="Poppins Light"/>
                <a:ea typeface="Poppins Light"/>
                <a:cs typeface="Poppins Light"/>
                <a:sym typeface="Poppins Light"/>
              </a:rPr>
              <a:t>01</a:t>
            </a:r>
            <a:endParaRPr/>
          </a:p>
        </p:txBody>
      </p:sp>
      <p:sp>
        <p:nvSpPr>
          <p:cNvPr id="96" name="Google Shape;96;p14"/>
          <p:cNvSpPr txBox="1"/>
          <p:nvPr/>
        </p:nvSpPr>
        <p:spPr>
          <a:xfrm>
            <a:off x="3321844" y="4141511"/>
            <a:ext cx="2939497" cy="264849"/>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800" u="none" cap="none" strike="noStrike">
                <a:solidFill>
                  <a:srgbClr val="C3C5C6"/>
                </a:solidFill>
                <a:latin typeface="Poppins Light"/>
                <a:ea typeface="Poppins Light"/>
                <a:cs typeface="Poppins Light"/>
                <a:sym typeface="Poppins Light"/>
              </a:rPr>
              <a:t>Introduction</a:t>
            </a:r>
            <a:endParaRPr/>
          </a:p>
        </p:txBody>
      </p:sp>
      <p:sp>
        <p:nvSpPr>
          <p:cNvPr id="97" name="Google Shape;97;p14"/>
          <p:cNvSpPr txBox="1"/>
          <p:nvPr/>
        </p:nvSpPr>
        <p:spPr>
          <a:xfrm>
            <a:off x="9810750" y="4057069"/>
            <a:ext cx="506016" cy="45275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3200" u="none" cap="none" strike="noStrike">
                <a:solidFill>
                  <a:srgbClr val="FFFFFF"/>
                </a:solidFill>
                <a:latin typeface="Poppins Light"/>
                <a:ea typeface="Poppins Light"/>
                <a:cs typeface="Poppins Light"/>
                <a:sym typeface="Poppins Light"/>
              </a:rPr>
              <a:t>05</a:t>
            </a:r>
            <a:endParaRPr/>
          </a:p>
        </p:txBody>
      </p:sp>
      <p:sp>
        <p:nvSpPr>
          <p:cNvPr id="98" name="Google Shape;98;p14"/>
          <p:cNvSpPr txBox="1"/>
          <p:nvPr/>
        </p:nvSpPr>
        <p:spPr>
          <a:xfrm>
            <a:off x="10560844" y="4141511"/>
            <a:ext cx="2939497" cy="26479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800" u="none" cap="none" strike="noStrike">
                <a:solidFill>
                  <a:srgbClr val="C3C5C6"/>
                </a:solidFill>
                <a:latin typeface="Poppins Light"/>
                <a:ea typeface="Poppins Light"/>
                <a:cs typeface="Poppins Light"/>
                <a:sym typeface="Poppins Light"/>
              </a:rPr>
              <a:t>Who’s Halisi For?</a:t>
            </a:r>
            <a:endParaRPr/>
          </a:p>
        </p:txBody>
      </p:sp>
      <p:sp>
        <p:nvSpPr>
          <p:cNvPr id="99" name="Google Shape;99;p14"/>
          <p:cNvSpPr txBox="1"/>
          <p:nvPr/>
        </p:nvSpPr>
        <p:spPr>
          <a:xfrm>
            <a:off x="2571750" y="5230802"/>
            <a:ext cx="485705" cy="45275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3200" u="none" cap="none" strike="noStrike">
                <a:solidFill>
                  <a:srgbClr val="FFFFFF"/>
                </a:solidFill>
                <a:latin typeface="Poppins Light"/>
                <a:ea typeface="Poppins Light"/>
                <a:cs typeface="Poppins Light"/>
                <a:sym typeface="Poppins Light"/>
              </a:rPr>
              <a:t>02</a:t>
            </a:r>
            <a:endParaRPr/>
          </a:p>
        </p:txBody>
      </p:sp>
      <p:sp>
        <p:nvSpPr>
          <p:cNvPr id="100" name="Google Shape;100;p14"/>
          <p:cNvSpPr txBox="1"/>
          <p:nvPr/>
        </p:nvSpPr>
        <p:spPr>
          <a:xfrm>
            <a:off x="3321844" y="5315243"/>
            <a:ext cx="2939497" cy="26479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800" u="none" cap="none" strike="noStrike">
                <a:solidFill>
                  <a:srgbClr val="C3C5C6"/>
                </a:solidFill>
                <a:latin typeface="Poppins Light"/>
                <a:ea typeface="Poppins Light"/>
                <a:cs typeface="Poppins Light"/>
                <a:sym typeface="Poppins Light"/>
              </a:rPr>
              <a:t>The Problem</a:t>
            </a:r>
            <a:endParaRPr/>
          </a:p>
        </p:txBody>
      </p:sp>
      <p:sp>
        <p:nvSpPr>
          <p:cNvPr id="101" name="Google Shape;101;p14"/>
          <p:cNvSpPr txBox="1"/>
          <p:nvPr/>
        </p:nvSpPr>
        <p:spPr>
          <a:xfrm>
            <a:off x="9810750" y="5230802"/>
            <a:ext cx="506016" cy="45275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3200" u="none" cap="none" strike="noStrike">
                <a:solidFill>
                  <a:srgbClr val="FFFFFF"/>
                </a:solidFill>
                <a:latin typeface="Poppins Light"/>
                <a:ea typeface="Poppins Light"/>
                <a:cs typeface="Poppins Light"/>
                <a:sym typeface="Poppins Light"/>
              </a:rPr>
              <a:t>06</a:t>
            </a:r>
            <a:endParaRPr/>
          </a:p>
        </p:txBody>
      </p:sp>
      <p:sp>
        <p:nvSpPr>
          <p:cNvPr id="102" name="Google Shape;102;p14"/>
          <p:cNvSpPr txBox="1"/>
          <p:nvPr/>
        </p:nvSpPr>
        <p:spPr>
          <a:xfrm>
            <a:off x="10560844" y="5315243"/>
            <a:ext cx="2939497" cy="26479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800" u="none" cap="none" strike="noStrike">
                <a:solidFill>
                  <a:srgbClr val="C3C5C6"/>
                </a:solidFill>
                <a:latin typeface="Poppins Light"/>
                <a:ea typeface="Poppins Light"/>
                <a:cs typeface="Poppins Light"/>
                <a:sym typeface="Poppins Light"/>
              </a:rPr>
              <a:t>The Team</a:t>
            </a:r>
            <a:endParaRPr/>
          </a:p>
        </p:txBody>
      </p:sp>
      <p:sp>
        <p:nvSpPr>
          <p:cNvPr id="103" name="Google Shape;103;p14"/>
          <p:cNvSpPr txBox="1"/>
          <p:nvPr/>
        </p:nvSpPr>
        <p:spPr>
          <a:xfrm>
            <a:off x="2571750" y="6404535"/>
            <a:ext cx="491012" cy="45275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3200" u="none" cap="none" strike="noStrike">
                <a:solidFill>
                  <a:srgbClr val="FFFFFF"/>
                </a:solidFill>
                <a:latin typeface="Poppins Light"/>
                <a:ea typeface="Poppins Light"/>
                <a:cs typeface="Poppins Light"/>
                <a:sym typeface="Poppins Light"/>
              </a:rPr>
              <a:t>03</a:t>
            </a:r>
            <a:endParaRPr/>
          </a:p>
        </p:txBody>
      </p:sp>
      <p:sp>
        <p:nvSpPr>
          <p:cNvPr id="104" name="Google Shape;104;p14"/>
          <p:cNvSpPr txBox="1"/>
          <p:nvPr/>
        </p:nvSpPr>
        <p:spPr>
          <a:xfrm>
            <a:off x="3321844" y="6488976"/>
            <a:ext cx="2939497" cy="26479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800" u="none" cap="none" strike="noStrike">
                <a:solidFill>
                  <a:srgbClr val="C3C5C6"/>
                </a:solidFill>
                <a:latin typeface="Poppins Light"/>
                <a:ea typeface="Poppins Light"/>
                <a:cs typeface="Poppins Light"/>
                <a:sym typeface="Poppins Light"/>
              </a:rPr>
              <a:t>The Solution</a:t>
            </a:r>
            <a:endParaRPr/>
          </a:p>
        </p:txBody>
      </p:sp>
      <p:sp>
        <p:nvSpPr>
          <p:cNvPr id="105" name="Google Shape;105;p14"/>
          <p:cNvSpPr txBox="1"/>
          <p:nvPr/>
        </p:nvSpPr>
        <p:spPr>
          <a:xfrm>
            <a:off x="9810750" y="6404535"/>
            <a:ext cx="468930" cy="45275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3200" u="none" cap="none" strike="noStrike">
                <a:solidFill>
                  <a:srgbClr val="FFFFFF"/>
                </a:solidFill>
                <a:latin typeface="Poppins Light"/>
                <a:ea typeface="Poppins Light"/>
                <a:cs typeface="Poppins Light"/>
                <a:sym typeface="Poppins Light"/>
              </a:rPr>
              <a:t>07</a:t>
            </a:r>
            <a:endParaRPr/>
          </a:p>
        </p:txBody>
      </p:sp>
      <p:sp>
        <p:nvSpPr>
          <p:cNvPr id="106" name="Google Shape;106;p14"/>
          <p:cNvSpPr txBox="1"/>
          <p:nvPr/>
        </p:nvSpPr>
        <p:spPr>
          <a:xfrm>
            <a:off x="10560844" y="6488976"/>
            <a:ext cx="4183194" cy="26479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800" u="none" cap="none" strike="noStrike">
                <a:solidFill>
                  <a:srgbClr val="C3C5C6"/>
                </a:solidFill>
                <a:latin typeface="Poppins Light"/>
                <a:ea typeface="Poppins Light"/>
                <a:cs typeface="Poppins Light"/>
                <a:sym typeface="Poppins Light"/>
              </a:rPr>
              <a:t>Impact &amp; The Road Ahead</a:t>
            </a:r>
            <a:endParaRPr/>
          </a:p>
        </p:txBody>
      </p:sp>
      <p:sp>
        <p:nvSpPr>
          <p:cNvPr id="107" name="Google Shape;107;p14"/>
          <p:cNvSpPr txBox="1"/>
          <p:nvPr/>
        </p:nvSpPr>
        <p:spPr>
          <a:xfrm>
            <a:off x="2571750" y="7578268"/>
            <a:ext cx="502444" cy="45275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3200" u="none" cap="none" strike="noStrike">
                <a:solidFill>
                  <a:srgbClr val="FFFFFF"/>
                </a:solidFill>
                <a:latin typeface="Poppins Light"/>
                <a:ea typeface="Poppins Light"/>
                <a:cs typeface="Poppins Light"/>
                <a:sym typeface="Poppins Light"/>
              </a:rPr>
              <a:t>04</a:t>
            </a:r>
            <a:endParaRPr/>
          </a:p>
        </p:txBody>
      </p:sp>
      <p:cxnSp>
        <p:nvCxnSpPr>
          <p:cNvPr id="108" name="Google Shape;108;p14"/>
          <p:cNvCxnSpPr/>
          <p:nvPr/>
        </p:nvCxnSpPr>
        <p:spPr>
          <a:xfrm>
            <a:off x="2571750" y="4856039"/>
            <a:ext cx="5905500" cy="0"/>
          </a:xfrm>
          <a:prstGeom prst="straightConnector1">
            <a:avLst/>
          </a:prstGeom>
          <a:noFill/>
          <a:ln cap="flat" cmpd="sng" w="9525">
            <a:solidFill>
              <a:srgbClr val="C3C5C6"/>
            </a:solidFill>
            <a:prstDash val="solid"/>
            <a:round/>
            <a:headEnd len="sm" w="sm" type="none"/>
            <a:tailEnd len="sm" w="sm" type="none"/>
          </a:ln>
        </p:spPr>
      </p:cxnSp>
      <p:cxnSp>
        <p:nvCxnSpPr>
          <p:cNvPr id="109" name="Google Shape;109;p14"/>
          <p:cNvCxnSpPr/>
          <p:nvPr/>
        </p:nvCxnSpPr>
        <p:spPr>
          <a:xfrm>
            <a:off x="9810750" y="4856039"/>
            <a:ext cx="5905500" cy="0"/>
          </a:xfrm>
          <a:prstGeom prst="straightConnector1">
            <a:avLst/>
          </a:prstGeom>
          <a:noFill/>
          <a:ln cap="flat" cmpd="sng" w="9525">
            <a:solidFill>
              <a:srgbClr val="C3C5C6"/>
            </a:solidFill>
            <a:prstDash val="solid"/>
            <a:round/>
            <a:headEnd len="sm" w="sm" type="none"/>
            <a:tailEnd len="sm" w="sm" type="none"/>
          </a:ln>
        </p:spPr>
      </p:cxnSp>
      <p:cxnSp>
        <p:nvCxnSpPr>
          <p:cNvPr id="110" name="Google Shape;110;p14"/>
          <p:cNvCxnSpPr/>
          <p:nvPr/>
        </p:nvCxnSpPr>
        <p:spPr>
          <a:xfrm>
            <a:off x="2571750" y="6029772"/>
            <a:ext cx="5905500" cy="0"/>
          </a:xfrm>
          <a:prstGeom prst="straightConnector1">
            <a:avLst/>
          </a:prstGeom>
          <a:noFill/>
          <a:ln cap="flat" cmpd="sng" w="9525">
            <a:solidFill>
              <a:srgbClr val="C3C5C6"/>
            </a:solidFill>
            <a:prstDash val="solid"/>
            <a:round/>
            <a:headEnd len="sm" w="sm" type="none"/>
            <a:tailEnd len="sm" w="sm" type="none"/>
          </a:ln>
        </p:spPr>
      </p:cxnSp>
      <p:cxnSp>
        <p:nvCxnSpPr>
          <p:cNvPr id="111" name="Google Shape;111;p14"/>
          <p:cNvCxnSpPr/>
          <p:nvPr/>
        </p:nvCxnSpPr>
        <p:spPr>
          <a:xfrm>
            <a:off x="9810750" y="6029772"/>
            <a:ext cx="5905500" cy="0"/>
          </a:xfrm>
          <a:prstGeom prst="straightConnector1">
            <a:avLst/>
          </a:prstGeom>
          <a:noFill/>
          <a:ln cap="flat" cmpd="sng" w="9525">
            <a:solidFill>
              <a:srgbClr val="C3C5C6"/>
            </a:solidFill>
            <a:prstDash val="solid"/>
            <a:round/>
            <a:headEnd len="sm" w="sm" type="none"/>
            <a:tailEnd len="sm" w="sm" type="none"/>
          </a:ln>
        </p:spPr>
      </p:cxnSp>
      <p:cxnSp>
        <p:nvCxnSpPr>
          <p:cNvPr id="112" name="Google Shape;112;p14"/>
          <p:cNvCxnSpPr/>
          <p:nvPr/>
        </p:nvCxnSpPr>
        <p:spPr>
          <a:xfrm>
            <a:off x="2571750" y="7203505"/>
            <a:ext cx="5905500" cy="0"/>
          </a:xfrm>
          <a:prstGeom prst="straightConnector1">
            <a:avLst/>
          </a:prstGeom>
          <a:noFill/>
          <a:ln cap="flat" cmpd="sng" w="9525">
            <a:solidFill>
              <a:srgbClr val="C3C5C6"/>
            </a:solidFill>
            <a:prstDash val="solid"/>
            <a:round/>
            <a:headEnd len="sm" w="sm" type="none"/>
            <a:tailEnd len="sm" w="sm" type="none"/>
          </a:ln>
        </p:spPr>
      </p:cxnSp>
      <p:cxnSp>
        <p:nvCxnSpPr>
          <p:cNvPr id="113" name="Google Shape;113;p14"/>
          <p:cNvCxnSpPr/>
          <p:nvPr/>
        </p:nvCxnSpPr>
        <p:spPr>
          <a:xfrm>
            <a:off x="9810750" y="7203505"/>
            <a:ext cx="5905500" cy="0"/>
          </a:xfrm>
          <a:prstGeom prst="straightConnector1">
            <a:avLst/>
          </a:prstGeom>
          <a:noFill/>
          <a:ln cap="flat" cmpd="sng" w="9525">
            <a:solidFill>
              <a:srgbClr val="C3C5C6"/>
            </a:solidFill>
            <a:prstDash val="solid"/>
            <a:round/>
            <a:headEnd len="sm" w="sm" type="none"/>
            <a:tailEnd len="sm" w="sm" type="none"/>
          </a:ln>
        </p:spPr>
      </p:cxnSp>
      <p:cxnSp>
        <p:nvCxnSpPr>
          <p:cNvPr id="114" name="Google Shape;114;p14"/>
          <p:cNvCxnSpPr/>
          <p:nvPr/>
        </p:nvCxnSpPr>
        <p:spPr>
          <a:xfrm>
            <a:off x="2571750" y="8377238"/>
            <a:ext cx="5905500" cy="0"/>
          </a:xfrm>
          <a:prstGeom prst="straightConnector1">
            <a:avLst/>
          </a:prstGeom>
          <a:noFill/>
          <a:ln cap="flat" cmpd="sng" w="9525">
            <a:solidFill>
              <a:srgbClr val="C3C5C6"/>
            </a:solidFill>
            <a:prstDash val="solid"/>
            <a:round/>
            <a:headEnd len="sm" w="sm" type="none"/>
            <a:tailEnd len="sm" w="sm" type="none"/>
          </a:ln>
        </p:spPr>
      </p:cxnSp>
      <p:cxnSp>
        <p:nvCxnSpPr>
          <p:cNvPr id="115" name="Google Shape;115;p14"/>
          <p:cNvCxnSpPr/>
          <p:nvPr/>
        </p:nvCxnSpPr>
        <p:spPr>
          <a:xfrm>
            <a:off x="2571750" y="2866444"/>
            <a:ext cx="567898" cy="0"/>
          </a:xfrm>
          <a:prstGeom prst="straightConnector1">
            <a:avLst/>
          </a:prstGeom>
          <a:noFill/>
          <a:ln cap="flat" cmpd="sng" w="38100">
            <a:solidFill>
              <a:srgbClr val="D2B99A"/>
            </a:solidFill>
            <a:prstDash val="solid"/>
            <a:round/>
            <a:headEnd len="sm" w="sm" type="none"/>
            <a:tailEnd len="sm" w="sm" type="none"/>
          </a:ln>
        </p:spPr>
      </p:cxnSp>
      <p:sp>
        <p:nvSpPr>
          <p:cNvPr id="116" name="Google Shape;116;p14"/>
          <p:cNvSpPr txBox="1"/>
          <p:nvPr/>
        </p:nvSpPr>
        <p:spPr>
          <a:xfrm>
            <a:off x="3321844" y="7665467"/>
            <a:ext cx="2939497" cy="26479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800" u="none" cap="none" strike="noStrike">
                <a:solidFill>
                  <a:srgbClr val="C3C5C6"/>
                </a:solidFill>
                <a:latin typeface="Poppins Light"/>
                <a:ea typeface="Poppins Light"/>
                <a:cs typeface="Poppins Light"/>
                <a:sym typeface="Poppins Light"/>
              </a:rPr>
              <a:t>How It Works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20" name="Shape 120"/>
        <p:cNvGrpSpPr/>
        <p:nvPr/>
      </p:nvGrpSpPr>
      <p:grpSpPr>
        <a:xfrm>
          <a:off x="0" y="0"/>
          <a:ext cx="0" cy="0"/>
          <a:chOff x="0" y="0"/>
          <a:chExt cx="0" cy="0"/>
        </a:xfrm>
      </p:grpSpPr>
      <p:sp>
        <p:nvSpPr>
          <p:cNvPr id="121" name="Google Shape;121;p15"/>
          <p:cNvSpPr/>
          <p:nvPr/>
        </p:nvSpPr>
        <p:spPr>
          <a:xfrm>
            <a:off x="-3377181" y="-764321"/>
            <a:ext cx="11434605" cy="11434605"/>
          </a:xfrm>
          <a:custGeom>
            <a:rect b="b" l="l" r="r" t="t"/>
            <a:pathLst>
              <a:path extrusionOk="0" h="11434605" w="11434605">
                <a:moveTo>
                  <a:pt x="0" y="0"/>
                </a:moveTo>
                <a:lnTo>
                  <a:pt x="11434604" y="0"/>
                </a:lnTo>
                <a:lnTo>
                  <a:pt x="11434604" y="11434604"/>
                </a:lnTo>
                <a:lnTo>
                  <a:pt x="0" y="11434604"/>
                </a:lnTo>
                <a:lnTo>
                  <a:pt x="0" y="0"/>
                </a:lnTo>
                <a:close/>
              </a:path>
            </a:pathLst>
          </a:custGeom>
          <a:blipFill rotWithShape="1">
            <a:blip r:embed="rId3">
              <a:alphaModFix/>
            </a:blip>
            <a:stretch>
              <a:fillRect b="0" l="-38842" r="-38842" t="0"/>
            </a:stretch>
          </a:blipFill>
          <a:ln>
            <a:noFill/>
          </a:ln>
        </p:spPr>
      </p:sp>
      <p:grpSp>
        <p:nvGrpSpPr>
          <p:cNvPr id="122" name="Google Shape;122;p15"/>
          <p:cNvGrpSpPr/>
          <p:nvPr/>
        </p:nvGrpSpPr>
        <p:grpSpPr>
          <a:xfrm>
            <a:off x="2845165" y="0"/>
            <a:ext cx="5498493" cy="10287000"/>
            <a:chOff x="0" y="0"/>
            <a:chExt cx="1448163" cy="2709333"/>
          </a:xfrm>
        </p:grpSpPr>
        <p:sp>
          <p:nvSpPr>
            <p:cNvPr id="123" name="Google Shape;123;p15"/>
            <p:cNvSpPr/>
            <p:nvPr/>
          </p:nvSpPr>
          <p:spPr>
            <a:xfrm>
              <a:off x="0" y="0"/>
              <a:ext cx="1448163" cy="2709333"/>
            </a:xfrm>
            <a:custGeom>
              <a:rect b="b" l="l" r="r" t="t"/>
              <a:pathLst>
                <a:path extrusionOk="0" h="2709333" w="1448163">
                  <a:moveTo>
                    <a:pt x="0" y="0"/>
                  </a:moveTo>
                  <a:lnTo>
                    <a:pt x="1448163" y="0"/>
                  </a:lnTo>
                  <a:lnTo>
                    <a:pt x="1448163" y="2709333"/>
                  </a:lnTo>
                  <a:lnTo>
                    <a:pt x="0" y="2709333"/>
                  </a:lnTo>
                  <a:close/>
                </a:path>
              </a:pathLst>
            </a:custGeom>
            <a:gradFill>
              <a:gsLst>
                <a:gs pos="0">
                  <a:srgbClr val="000000">
                    <a:alpha val="0"/>
                  </a:srgbClr>
                </a:gs>
                <a:gs pos="50000">
                  <a:srgbClr val="000000">
                    <a:alpha val="48627"/>
                  </a:srgbClr>
                </a:gs>
                <a:gs pos="100000">
                  <a:srgbClr val="000000"/>
                </a:gs>
              </a:gsLst>
              <a:lin ang="0" scaled="0"/>
            </a:gradFill>
            <a:ln>
              <a:noFill/>
            </a:ln>
          </p:spPr>
        </p:sp>
        <p:sp>
          <p:nvSpPr>
            <p:cNvPr id="124" name="Google Shape;124;p15"/>
            <p:cNvSpPr txBox="1"/>
            <p:nvPr/>
          </p:nvSpPr>
          <p:spPr>
            <a:xfrm>
              <a:off x="0" y="9525"/>
              <a:ext cx="1448163" cy="269980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sp>
        <p:nvSpPr>
          <p:cNvPr id="125" name="Google Shape;125;p15"/>
          <p:cNvSpPr/>
          <p:nvPr/>
        </p:nvSpPr>
        <p:spPr>
          <a:xfrm flipH="1">
            <a:off x="7865315" y="-154290"/>
            <a:ext cx="16230600" cy="6881774"/>
          </a:xfrm>
          <a:custGeom>
            <a:rect b="b" l="l" r="r" t="t"/>
            <a:pathLst>
              <a:path extrusionOk="0" h="6881774" w="16230600">
                <a:moveTo>
                  <a:pt x="16230600" y="0"/>
                </a:moveTo>
                <a:lnTo>
                  <a:pt x="0" y="0"/>
                </a:lnTo>
                <a:lnTo>
                  <a:pt x="0" y="6881774"/>
                </a:lnTo>
                <a:lnTo>
                  <a:pt x="16230600" y="6881774"/>
                </a:lnTo>
                <a:lnTo>
                  <a:pt x="16230600" y="0"/>
                </a:lnTo>
                <a:close/>
              </a:path>
            </a:pathLst>
          </a:custGeom>
          <a:blipFill rotWithShape="1">
            <a:blip r:embed="rId4">
              <a:alphaModFix amt="60000"/>
            </a:blip>
            <a:stretch>
              <a:fillRect b="0" l="0" r="0" t="0"/>
            </a:stretch>
          </a:blipFill>
          <a:ln>
            <a:noFill/>
          </a:ln>
        </p:spPr>
      </p:sp>
      <p:cxnSp>
        <p:nvCxnSpPr>
          <p:cNvPr id="126" name="Google Shape;126;p15"/>
          <p:cNvCxnSpPr/>
          <p:nvPr/>
        </p:nvCxnSpPr>
        <p:spPr>
          <a:xfrm>
            <a:off x="9810750" y="2866444"/>
            <a:ext cx="567898" cy="0"/>
          </a:xfrm>
          <a:prstGeom prst="straightConnector1">
            <a:avLst/>
          </a:prstGeom>
          <a:noFill/>
          <a:ln cap="flat" cmpd="sng" w="38100">
            <a:solidFill>
              <a:srgbClr val="D2B99A"/>
            </a:solidFill>
            <a:prstDash val="solid"/>
            <a:round/>
            <a:headEnd len="sm" w="sm" type="none"/>
            <a:tailEnd len="sm" w="sm" type="none"/>
          </a:ln>
        </p:spPr>
      </p:cxnSp>
      <p:sp>
        <p:nvSpPr>
          <p:cNvPr id="127" name="Google Shape;127;p15"/>
          <p:cNvSpPr txBox="1"/>
          <p:nvPr/>
        </p:nvSpPr>
        <p:spPr>
          <a:xfrm>
            <a:off x="9810750" y="1952625"/>
            <a:ext cx="5905500" cy="799519"/>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5600" u="none" cap="none" strike="noStrike">
                <a:solidFill>
                  <a:srgbClr val="FFFFFF"/>
                </a:solidFill>
                <a:latin typeface="Poppins Light"/>
                <a:ea typeface="Poppins Light"/>
                <a:cs typeface="Poppins Light"/>
                <a:sym typeface="Poppins Light"/>
              </a:rPr>
              <a:t>INTRODUCTION</a:t>
            </a:r>
            <a:endParaRPr/>
          </a:p>
        </p:txBody>
      </p:sp>
      <p:sp>
        <p:nvSpPr>
          <p:cNvPr id="128" name="Google Shape;128;p15"/>
          <p:cNvSpPr txBox="1"/>
          <p:nvPr/>
        </p:nvSpPr>
        <p:spPr>
          <a:xfrm>
            <a:off x="9810750" y="3445134"/>
            <a:ext cx="5905500" cy="4676140"/>
          </a:xfrm>
          <a:prstGeom prst="rect">
            <a:avLst/>
          </a:prstGeom>
          <a:noFill/>
          <a:ln>
            <a:noFill/>
          </a:ln>
        </p:spPr>
        <p:txBody>
          <a:bodyPr anchorCtr="0" anchor="t" bIns="0" lIns="0" spcFirstLastPara="1" rIns="0" wrap="square" tIns="0">
            <a:spAutoFit/>
          </a:bodyPr>
          <a:lstStyle/>
          <a:p>
            <a:pPr indent="0" lvl="0" marL="0" marR="0" rtl="0" algn="l">
              <a:lnSpc>
                <a:spcPct val="140021"/>
              </a:lnSpc>
              <a:spcBef>
                <a:spcPts val="0"/>
              </a:spcBef>
              <a:spcAft>
                <a:spcPts val="0"/>
              </a:spcAft>
              <a:buNone/>
            </a:pPr>
            <a:r>
              <a:rPr b="0" i="0" lang="en-US" sz="1899" u="none" cap="none" strike="noStrike">
                <a:solidFill>
                  <a:srgbClr val="C3C5C6"/>
                </a:solidFill>
                <a:latin typeface="Poppins Light"/>
                <a:ea typeface="Poppins Light"/>
                <a:cs typeface="Poppins Light"/>
                <a:sym typeface="Poppins Light"/>
              </a:rPr>
              <a:t>Halisi is an AI-powered brand impersonation detection platform that helps Kenyan businesses identify fraudulent accounts, websites and payment details pretending to be them.</a:t>
            </a:r>
            <a:endParaRPr/>
          </a:p>
          <a:p>
            <a:pPr indent="0" lvl="0" marL="0" marR="0" rtl="0" algn="l">
              <a:lnSpc>
                <a:spcPct val="140021"/>
              </a:lnSpc>
              <a:spcBef>
                <a:spcPts val="0"/>
              </a:spcBef>
              <a:spcAft>
                <a:spcPts val="0"/>
              </a:spcAft>
              <a:buNone/>
            </a:pPr>
            <a:r>
              <a:t/>
            </a:r>
            <a:endParaRPr b="0" i="0" sz="1899" u="none" cap="none" strike="noStrike">
              <a:solidFill>
                <a:srgbClr val="C3C5C6"/>
              </a:solidFill>
              <a:latin typeface="Poppins Light"/>
              <a:ea typeface="Poppins Light"/>
              <a:cs typeface="Poppins Light"/>
              <a:sym typeface="Poppins Light"/>
            </a:endParaRPr>
          </a:p>
          <a:p>
            <a:pPr indent="0" lvl="0" marL="0" marR="0" rtl="0" algn="l">
              <a:lnSpc>
                <a:spcPct val="140021"/>
              </a:lnSpc>
              <a:spcBef>
                <a:spcPts val="0"/>
              </a:spcBef>
              <a:spcAft>
                <a:spcPts val="0"/>
              </a:spcAft>
              <a:buNone/>
            </a:pPr>
            <a:r>
              <a:rPr b="0" i="0" lang="en-US" sz="1899" u="none" cap="none" strike="noStrike">
                <a:solidFill>
                  <a:srgbClr val="C3C5C6"/>
                </a:solidFill>
                <a:latin typeface="Poppins Light"/>
                <a:ea typeface="Poppins Light"/>
                <a:cs typeface="Poppins Light"/>
                <a:sym typeface="Poppins Light"/>
              </a:rPr>
              <a:t>Developed by a passionate team of developers, Halisi aims to reduce online fraud and protect both businesses and their customers from the growing threat of digital impersonation. By analysing multiple signals such as visual identity, account information, language and payment details, Halisi helps businesses detect potential threats and take action before they cause further harm.</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32" name="Shape 132"/>
        <p:cNvGrpSpPr/>
        <p:nvPr/>
      </p:nvGrpSpPr>
      <p:grpSpPr>
        <a:xfrm>
          <a:off x="0" y="0"/>
          <a:ext cx="0" cy="0"/>
          <a:chOff x="0" y="0"/>
          <a:chExt cx="0" cy="0"/>
        </a:xfrm>
      </p:grpSpPr>
      <p:sp>
        <p:nvSpPr>
          <p:cNvPr id="133" name="Google Shape;133;p16"/>
          <p:cNvSpPr/>
          <p:nvPr/>
        </p:nvSpPr>
        <p:spPr>
          <a:xfrm>
            <a:off x="8467702" y="2625"/>
            <a:ext cx="16252296" cy="10281748"/>
          </a:xfrm>
          <a:custGeom>
            <a:rect b="b" l="l" r="r" t="t"/>
            <a:pathLst>
              <a:path extrusionOk="0" h="8825535" w="14350813">
                <a:moveTo>
                  <a:pt x="0" y="0"/>
                </a:moveTo>
                <a:lnTo>
                  <a:pt x="14350813" y="0"/>
                </a:lnTo>
                <a:lnTo>
                  <a:pt x="14350813" y="8825535"/>
                </a:lnTo>
                <a:lnTo>
                  <a:pt x="0" y="8825535"/>
                </a:lnTo>
                <a:lnTo>
                  <a:pt x="0" y="0"/>
                </a:lnTo>
                <a:close/>
              </a:path>
            </a:pathLst>
          </a:custGeom>
          <a:blipFill rotWithShape="1">
            <a:blip r:embed="rId3">
              <a:alphaModFix amt="60000"/>
            </a:blip>
            <a:stretch>
              <a:fillRect b="-160579" l="-45043" r="0" t="-160579"/>
            </a:stretch>
          </a:blipFill>
          <a:ln>
            <a:noFill/>
          </a:ln>
        </p:spPr>
      </p:sp>
      <p:grpSp>
        <p:nvGrpSpPr>
          <p:cNvPr id="134" name="Google Shape;134;p16"/>
          <p:cNvGrpSpPr/>
          <p:nvPr/>
        </p:nvGrpSpPr>
        <p:grpSpPr>
          <a:xfrm rot="10800000">
            <a:off x="8467698" y="1866"/>
            <a:ext cx="4264484" cy="10287066"/>
            <a:chOff x="0" y="0"/>
            <a:chExt cx="1123149" cy="2709333"/>
          </a:xfrm>
        </p:grpSpPr>
        <p:sp>
          <p:nvSpPr>
            <p:cNvPr id="135" name="Google Shape;135;p16"/>
            <p:cNvSpPr/>
            <p:nvPr/>
          </p:nvSpPr>
          <p:spPr>
            <a:xfrm>
              <a:off x="0" y="0"/>
              <a:ext cx="1123149" cy="2709333"/>
            </a:xfrm>
            <a:custGeom>
              <a:rect b="b" l="l" r="r" t="t"/>
              <a:pathLst>
                <a:path extrusionOk="0" h="2709333" w="1123149">
                  <a:moveTo>
                    <a:pt x="0" y="0"/>
                  </a:moveTo>
                  <a:lnTo>
                    <a:pt x="1123149" y="0"/>
                  </a:lnTo>
                  <a:lnTo>
                    <a:pt x="1123149" y="2709333"/>
                  </a:lnTo>
                  <a:lnTo>
                    <a:pt x="0" y="2709333"/>
                  </a:lnTo>
                  <a:close/>
                </a:path>
              </a:pathLst>
            </a:custGeom>
            <a:gradFill>
              <a:gsLst>
                <a:gs pos="0">
                  <a:srgbClr val="000000">
                    <a:alpha val="0"/>
                  </a:srgbClr>
                </a:gs>
                <a:gs pos="50000">
                  <a:srgbClr val="000000">
                    <a:alpha val="48627"/>
                  </a:srgbClr>
                </a:gs>
                <a:gs pos="100000">
                  <a:srgbClr val="000000"/>
                </a:gs>
              </a:gsLst>
              <a:lin ang="0" scaled="0"/>
            </a:gradFill>
            <a:ln>
              <a:noFill/>
            </a:ln>
          </p:spPr>
        </p:sp>
        <p:sp>
          <p:nvSpPr>
            <p:cNvPr id="136" name="Google Shape;136;p16"/>
            <p:cNvSpPr txBox="1"/>
            <p:nvPr/>
          </p:nvSpPr>
          <p:spPr>
            <a:xfrm>
              <a:off x="0" y="9525"/>
              <a:ext cx="1123149" cy="2699808"/>
            </a:xfrm>
            <a:prstGeom prst="rect">
              <a:avLst/>
            </a:prstGeom>
            <a:noFill/>
            <a:ln>
              <a:noFill/>
            </a:ln>
          </p:spPr>
          <p:txBody>
            <a:bodyPr anchorCtr="0" anchor="ctr" bIns="50800" lIns="50800" spcFirstLastPara="1" rIns="50800" wrap="square" tIns="50800">
              <a:noAutofit/>
            </a:bodyPr>
            <a:lstStyle/>
            <a:p>
              <a:pPr indent="0" lvl="0" marL="0" marR="0" rtl="0" algn="ctr">
                <a:lnSpc>
                  <a:spcPct val="10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pSp>
      <p:cxnSp>
        <p:nvCxnSpPr>
          <p:cNvPr id="137" name="Google Shape;137;p16"/>
          <p:cNvCxnSpPr/>
          <p:nvPr/>
        </p:nvCxnSpPr>
        <p:spPr>
          <a:xfrm>
            <a:off x="2571750" y="2866444"/>
            <a:ext cx="567898" cy="0"/>
          </a:xfrm>
          <a:prstGeom prst="straightConnector1">
            <a:avLst/>
          </a:prstGeom>
          <a:noFill/>
          <a:ln cap="flat" cmpd="sng" w="38100">
            <a:solidFill>
              <a:srgbClr val="D2B99A"/>
            </a:solidFill>
            <a:prstDash val="solid"/>
            <a:round/>
            <a:headEnd len="sm" w="sm" type="none"/>
            <a:tailEnd len="sm" w="sm" type="none"/>
          </a:ln>
        </p:spPr>
      </p:cxnSp>
      <p:sp>
        <p:nvSpPr>
          <p:cNvPr id="138" name="Google Shape;138;p16"/>
          <p:cNvSpPr txBox="1"/>
          <p:nvPr/>
        </p:nvSpPr>
        <p:spPr>
          <a:xfrm>
            <a:off x="2571750" y="1952625"/>
            <a:ext cx="5905500" cy="7994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5600" u="none" cap="none" strike="noStrike">
                <a:solidFill>
                  <a:srgbClr val="FFFFFF"/>
                </a:solidFill>
                <a:latin typeface="Poppins Light"/>
                <a:ea typeface="Poppins Light"/>
                <a:cs typeface="Poppins Light"/>
                <a:sym typeface="Poppins Light"/>
              </a:rPr>
              <a:t>THE PROBLEM</a:t>
            </a:r>
            <a:endParaRPr/>
          </a:p>
        </p:txBody>
      </p:sp>
      <p:sp>
        <p:nvSpPr>
          <p:cNvPr id="139" name="Google Shape;139;p16"/>
          <p:cNvSpPr txBox="1"/>
          <p:nvPr/>
        </p:nvSpPr>
        <p:spPr>
          <a:xfrm>
            <a:off x="2571750" y="3267123"/>
            <a:ext cx="3937635" cy="375285"/>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2100" u="none" cap="none" strike="noStrike">
                <a:solidFill>
                  <a:srgbClr val="FFFFFF"/>
                </a:solidFill>
                <a:latin typeface="Poppins"/>
                <a:ea typeface="Poppins"/>
                <a:cs typeface="Poppins"/>
                <a:sym typeface="Poppins"/>
              </a:rPr>
              <a:t>Online Impersonation</a:t>
            </a:r>
            <a:endParaRPr/>
          </a:p>
        </p:txBody>
      </p:sp>
      <p:sp>
        <p:nvSpPr>
          <p:cNvPr id="140" name="Google Shape;140;p16"/>
          <p:cNvSpPr txBox="1"/>
          <p:nvPr/>
        </p:nvSpPr>
        <p:spPr>
          <a:xfrm>
            <a:off x="2571750" y="3973878"/>
            <a:ext cx="3937635" cy="4426585"/>
          </a:xfrm>
          <a:prstGeom prst="rect">
            <a:avLst/>
          </a:prstGeom>
          <a:noFill/>
          <a:ln>
            <a:noFill/>
          </a:ln>
        </p:spPr>
        <p:txBody>
          <a:bodyPr anchorCtr="0" anchor="t" bIns="0" lIns="0" spcFirstLastPara="1" rIns="0" wrap="square" tIns="0">
            <a:spAutoFit/>
          </a:bodyPr>
          <a:lstStyle/>
          <a:p>
            <a:pPr indent="0" lvl="0" marL="0" marR="0" rtl="0" algn="l">
              <a:lnSpc>
                <a:spcPct val="140025"/>
              </a:lnSpc>
              <a:spcBef>
                <a:spcPts val="0"/>
              </a:spcBef>
              <a:spcAft>
                <a:spcPts val="0"/>
              </a:spcAft>
              <a:buNone/>
            </a:pPr>
            <a:r>
              <a:rPr b="0" i="0" lang="en-US" sz="1599" u="none" cap="none" strike="noStrike">
                <a:solidFill>
                  <a:srgbClr val="C3C5C6"/>
                </a:solidFill>
                <a:latin typeface="Poppins Light"/>
                <a:ea typeface="Poppins Light"/>
                <a:cs typeface="Poppins Light"/>
                <a:sym typeface="Poppins Light"/>
              </a:rPr>
              <a:t>Fake social media accounts and pages use lookalike branding and usernames to impersonate legitimate businesses. They trick unsuspecting users and potential customers into making fraudulent payments through personal M-Pesa accounts, Till numbers, Paybill numbers, or Pochi La Biashara.</a:t>
            </a:r>
            <a:endParaRPr/>
          </a:p>
          <a:p>
            <a:pPr indent="0" lvl="0" marL="0" marR="0" rtl="0" algn="l">
              <a:lnSpc>
                <a:spcPct val="140025"/>
              </a:lnSpc>
              <a:spcBef>
                <a:spcPts val="0"/>
              </a:spcBef>
              <a:spcAft>
                <a:spcPts val="0"/>
              </a:spcAft>
              <a:buNone/>
            </a:pPr>
            <a:r>
              <a:rPr b="0" i="0" lang="en-US" sz="1599" u="none" cap="none" strike="noStrike">
                <a:solidFill>
                  <a:srgbClr val="C3C5C6"/>
                </a:solidFill>
                <a:latin typeface="Poppins Light"/>
                <a:ea typeface="Poppins Light"/>
                <a:cs typeface="Poppins Light"/>
                <a:sym typeface="Poppins Light"/>
              </a:rPr>
              <a:t>This creates a serious problem for legitimate businesses because affected customers may believe they have been scammed by the actual business, damaging its reputation and eroding customer trust.</a:t>
            </a:r>
            <a:endParaRPr/>
          </a:p>
          <a:p>
            <a:pPr indent="0" lvl="0" marL="0" marR="0" rtl="0" algn="l">
              <a:lnSpc>
                <a:spcPct val="140025"/>
              </a:lnSpc>
              <a:spcBef>
                <a:spcPts val="0"/>
              </a:spcBef>
              <a:spcAft>
                <a:spcPts val="0"/>
              </a:spcAft>
              <a:buNone/>
            </a:pPr>
            <a:r>
              <a:t/>
            </a:r>
            <a:endParaRPr b="0" i="0" sz="1599" u="none" cap="none" strike="noStrike">
              <a:solidFill>
                <a:srgbClr val="C3C5C6"/>
              </a:solidFill>
              <a:latin typeface="Poppins Light"/>
              <a:ea typeface="Poppins Light"/>
              <a:cs typeface="Poppins Light"/>
              <a:sym typeface="Poppins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44" name="Shape 144"/>
        <p:cNvGrpSpPr/>
        <p:nvPr/>
      </p:nvGrpSpPr>
      <p:grpSpPr>
        <a:xfrm>
          <a:off x="0" y="0"/>
          <a:ext cx="0" cy="0"/>
          <a:chOff x="0" y="0"/>
          <a:chExt cx="0" cy="0"/>
        </a:xfrm>
      </p:grpSpPr>
      <p:sp>
        <p:nvSpPr>
          <p:cNvPr id="145" name="Google Shape;145;p17"/>
          <p:cNvSpPr/>
          <p:nvPr/>
        </p:nvSpPr>
        <p:spPr>
          <a:xfrm>
            <a:off x="0" y="1266444"/>
            <a:ext cx="18288000" cy="7754112"/>
          </a:xfrm>
          <a:custGeom>
            <a:rect b="b" l="l" r="r" t="t"/>
            <a:pathLst>
              <a:path extrusionOk="0" h="7754112" w="18288000">
                <a:moveTo>
                  <a:pt x="0" y="0"/>
                </a:moveTo>
                <a:lnTo>
                  <a:pt x="18288000" y="0"/>
                </a:lnTo>
                <a:lnTo>
                  <a:pt x="18288000" y="7754112"/>
                </a:lnTo>
                <a:lnTo>
                  <a:pt x="0" y="7754112"/>
                </a:lnTo>
                <a:lnTo>
                  <a:pt x="0" y="0"/>
                </a:lnTo>
                <a:close/>
              </a:path>
            </a:pathLst>
          </a:custGeom>
          <a:blipFill rotWithShape="1">
            <a:blip r:embed="rId3">
              <a:alphaModFix amt="60000"/>
            </a:blip>
            <a:stretch>
              <a:fillRect b="0" l="0" r="0" t="0"/>
            </a:stretch>
          </a:blipFill>
          <a:ln>
            <a:noFill/>
          </a:ln>
        </p:spPr>
      </p:sp>
      <p:cxnSp>
        <p:nvCxnSpPr>
          <p:cNvPr id="146" name="Google Shape;146;p17"/>
          <p:cNvCxnSpPr/>
          <p:nvPr/>
        </p:nvCxnSpPr>
        <p:spPr>
          <a:xfrm>
            <a:off x="2571750" y="2866444"/>
            <a:ext cx="567898" cy="0"/>
          </a:xfrm>
          <a:prstGeom prst="straightConnector1">
            <a:avLst/>
          </a:prstGeom>
          <a:noFill/>
          <a:ln cap="flat" cmpd="sng" w="38100">
            <a:solidFill>
              <a:srgbClr val="D2B99A"/>
            </a:solidFill>
            <a:prstDash val="solid"/>
            <a:round/>
            <a:headEnd len="sm" w="sm" type="none"/>
            <a:tailEnd len="sm" w="sm" type="none"/>
          </a:ln>
        </p:spPr>
      </p:cxnSp>
      <p:sp>
        <p:nvSpPr>
          <p:cNvPr id="147" name="Google Shape;147;p17"/>
          <p:cNvSpPr/>
          <p:nvPr/>
        </p:nvSpPr>
        <p:spPr>
          <a:xfrm>
            <a:off x="12551336" y="3085249"/>
            <a:ext cx="4741674" cy="2010470"/>
          </a:xfrm>
          <a:custGeom>
            <a:rect b="b" l="l" r="r" t="t"/>
            <a:pathLst>
              <a:path extrusionOk="0" h="2010470" w="4741674">
                <a:moveTo>
                  <a:pt x="0" y="0"/>
                </a:moveTo>
                <a:lnTo>
                  <a:pt x="4741674" y="0"/>
                </a:lnTo>
                <a:lnTo>
                  <a:pt x="4741674" y="2010470"/>
                </a:lnTo>
                <a:lnTo>
                  <a:pt x="0" y="2010470"/>
                </a:lnTo>
                <a:lnTo>
                  <a:pt x="0" y="0"/>
                </a:lnTo>
                <a:close/>
              </a:path>
            </a:pathLst>
          </a:custGeom>
          <a:blipFill rotWithShape="1">
            <a:blip r:embed="rId4">
              <a:alphaModFix/>
            </a:blip>
            <a:stretch>
              <a:fillRect b="-67925" l="0" r="0" t="-67925"/>
            </a:stretch>
          </a:blipFill>
          <a:ln>
            <a:noFill/>
          </a:ln>
        </p:spPr>
      </p:sp>
      <p:sp>
        <p:nvSpPr>
          <p:cNvPr id="148" name="Google Shape;148;p17"/>
          <p:cNvSpPr/>
          <p:nvPr/>
        </p:nvSpPr>
        <p:spPr>
          <a:xfrm>
            <a:off x="8413717" y="2669985"/>
            <a:ext cx="4042890" cy="2425734"/>
          </a:xfrm>
          <a:custGeom>
            <a:rect b="b" l="l" r="r" t="t"/>
            <a:pathLst>
              <a:path extrusionOk="0" h="2425734" w="4042890">
                <a:moveTo>
                  <a:pt x="0" y="0"/>
                </a:moveTo>
                <a:lnTo>
                  <a:pt x="4042891" y="0"/>
                </a:lnTo>
                <a:lnTo>
                  <a:pt x="4042891" y="2425734"/>
                </a:lnTo>
                <a:lnTo>
                  <a:pt x="0" y="2425734"/>
                </a:lnTo>
                <a:lnTo>
                  <a:pt x="0" y="0"/>
                </a:lnTo>
                <a:close/>
              </a:path>
            </a:pathLst>
          </a:custGeom>
          <a:blipFill rotWithShape="1">
            <a:blip r:embed="rId5">
              <a:alphaModFix/>
            </a:blip>
            <a:stretch>
              <a:fillRect b="0" l="0" r="0" t="0"/>
            </a:stretch>
          </a:blipFill>
          <a:ln>
            <a:noFill/>
          </a:ln>
        </p:spPr>
      </p:sp>
      <p:sp>
        <p:nvSpPr>
          <p:cNvPr id="149" name="Google Shape;149;p17"/>
          <p:cNvSpPr/>
          <p:nvPr/>
        </p:nvSpPr>
        <p:spPr>
          <a:xfrm>
            <a:off x="10264830" y="5195523"/>
            <a:ext cx="3522863" cy="2561217"/>
          </a:xfrm>
          <a:custGeom>
            <a:rect b="b" l="l" r="r" t="t"/>
            <a:pathLst>
              <a:path extrusionOk="0" h="2561217" w="3522863">
                <a:moveTo>
                  <a:pt x="0" y="0"/>
                </a:moveTo>
                <a:lnTo>
                  <a:pt x="3522864" y="0"/>
                </a:lnTo>
                <a:lnTo>
                  <a:pt x="3522864" y="2561216"/>
                </a:lnTo>
                <a:lnTo>
                  <a:pt x="0" y="2561216"/>
                </a:lnTo>
                <a:lnTo>
                  <a:pt x="0" y="0"/>
                </a:lnTo>
                <a:close/>
              </a:path>
            </a:pathLst>
          </a:custGeom>
          <a:blipFill rotWithShape="1">
            <a:blip r:embed="rId6">
              <a:alphaModFix/>
            </a:blip>
            <a:stretch>
              <a:fillRect b="0" l="0" r="0" t="0"/>
            </a:stretch>
          </a:blipFill>
          <a:ln>
            <a:noFill/>
          </a:ln>
        </p:spPr>
      </p:sp>
      <p:sp>
        <p:nvSpPr>
          <p:cNvPr id="150" name="Google Shape;150;p17"/>
          <p:cNvSpPr/>
          <p:nvPr/>
        </p:nvSpPr>
        <p:spPr>
          <a:xfrm>
            <a:off x="12144419" y="2547498"/>
            <a:ext cx="1422638" cy="1422638"/>
          </a:xfrm>
          <a:custGeom>
            <a:rect b="b" l="l" r="r" t="t"/>
            <a:pathLst>
              <a:path extrusionOk="0" h="1422638" w="1422638">
                <a:moveTo>
                  <a:pt x="0" y="0"/>
                </a:moveTo>
                <a:lnTo>
                  <a:pt x="1422638" y="0"/>
                </a:lnTo>
                <a:lnTo>
                  <a:pt x="1422638" y="1422639"/>
                </a:lnTo>
                <a:lnTo>
                  <a:pt x="0" y="1422639"/>
                </a:lnTo>
                <a:lnTo>
                  <a:pt x="0" y="0"/>
                </a:lnTo>
                <a:close/>
              </a:path>
            </a:pathLst>
          </a:custGeom>
          <a:blipFill rotWithShape="1">
            <a:blip r:embed="rId7">
              <a:alphaModFix/>
            </a:blip>
            <a:stretch>
              <a:fillRect b="0" l="0" r="0" t="0"/>
            </a:stretch>
          </a:blipFill>
          <a:ln>
            <a:noFill/>
          </a:ln>
        </p:spPr>
      </p:sp>
      <p:sp>
        <p:nvSpPr>
          <p:cNvPr id="151" name="Google Shape;151;p17"/>
          <p:cNvSpPr txBox="1"/>
          <p:nvPr/>
        </p:nvSpPr>
        <p:spPr>
          <a:xfrm>
            <a:off x="2571750" y="1952625"/>
            <a:ext cx="5905500" cy="7994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5600" u="none" cap="none" strike="noStrike">
                <a:solidFill>
                  <a:srgbClr val="FFFFFF"/>
                </a:solidFill>
                <a:latin typeface="Poppins Light"/>
                <a:ea typeface="Poppins Light"/>
                <a:cs typeface="Poppins Light"/>
                <a:sym typeface="Poppins Light"/>
              </a:rPr>
              <a:t>THE SOLUTION</a:t>
            </a:r>
            <a:endParaRPr/>
          </a:p>
        </p:txBody>
      </p:sp>
      <p:sp>
        <p:nvSpPr>
          <p:cNvPr id="152" name="Google Shape;152;p17"/>
          <p:cNvSpPr txBox="1"/>
          <p:nvPr/>
        </p:nvSpPr>
        <p:spPr>
          <a:xfrm>
            <a:off x="2571750" y="3140482"/>
            <a:ext cx="3937635" cy="74676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2100" u="none" cap="none" strike="noStrike">
                <a:solidFill>
                  <a:srgbClr val="FFFFFF"/>
                </a:solidFill>
                <a:latin typeface="Poppins"/>
                <a:ea typeface="Poppins"/>
                <a:cs typeface="Poppins"/>
                <a:sym typeface="Poppins"/>
              </a:rPr>
              <a:t>Detect, Compare, Analyse &amp; Report</a:t>
            </a:r>
            <a:endParaRPr/>
          </a:p>
        </p:txBody>
      </p:sp>
      <p:sp>
        <p:nvSpPr>
          <p:cNvPr id="153" name="Google Shape;153;p17"/>
          <p:cNvSpPr txBox="1"/>
          <p:nvPr/>
        </p:nvSpPr>
        <p:spPr>
          <a:xfrm>
            <a:off x="2571750" y="4102530"/>
            <a:ext cx="3937635" cy="4979035"/>
          </a:xfrm>
          <a:prstGeom prst="rect">
            <a:avLst/>
          </a:prstGeom>
          <a:noFill/>
          <a:ln>
            <a:noFill/>
          </a:ln>
        </p:spPr>
        <p:txBody>
          <a:bodyPr anchorCtr="0" anchor="t" bIns="0" lIns="0" spcFirstLastPara="1" rIns="0" wrap="square" tIns="0">
            <a:spAutoFit/>
          </a:bodyPr>
          <a:lstStyle/>
          <a:p>
            <a:pPr indent="0" lvl="0" marL="0" marR="0" rtl="0" algn="l">
              <a:lnSpc>
                <a:spcPct val="140025"/>
              </a:lnSpc>
              <a:spcBef>
                <a:spcPts val="0"/>
              </a:spcBef>
              <a:spcAft>
                <a:spcPts val="0"/>
              </a:spcAft>
              <a:buNone/>
            </a:pPr>
            <a:r>
              <a:rPr b="0" i="0" lang="en-US" sz="1599" u="none" cap="none" strike="noStrike">
                <a:solidFill>
                  <a:srgbClr val="C3C5C6"/>
                </a:solidFill>
                <a:latin typeface="Poppins Light"/>
                <a:ea typeface="Poppins Light"/>
                <a:cs typeface="Poppins Light"/>
                <a:sym typeface="Poppins Light"/>
              </a:rPr>
              <a:t>The Halisi App uses AI to </a:t>
            </a:r>
            <a:r>
              <a:rPr b="1" i="0" lang="en-US" sz="1599" u="none" cap="none" strike="noStrike">
                <a:solidFill>
                  <a:srgbClr val="C3C5C6"/>
                </a:solidFill>
                <a:latin typeface="Poppins"/>
                <a:ea typeface="Poppins"/>
                <a:cs typeface="Poppins"/>
                <a:sym typeface="Poppins"/>
              </a:rPr>
              <a:t>detect</a:t>
            </a:r>
            <a:r>
              <a:rPr b="0" i="0" lang="en-US" sz="1599" u="none" cap="none" strike="noStrike">
                <a:solidFill>
                  <a:srgbClr val="C3C5C6"/>
                </a:solidFill>
                <a:latin typeface="Poppins Light"/>
                <a:ea typeface="Poppins Light"/>
                <a:cs typeface="Poppins Light"/>
                <a:sym typeface="Poppins Light"/>
              </a:rPr>
              <a:t> suspicious impersonation attempts by comparing usernames, handles and visual identities across social media platforms. It also checks page content for M-Pesa numbers, Till numbers, Pochi La Biashara details and Paybill numbers.</a:t>
            </a:r>
            <a:endParaRPr/>
          </a:p>
          <a:p>
            <a:pPr indent="0" lvl="0" marL="0" marR="0" rtl="0" algn="l">
              <a:lnSpc>
                <a:spcPct val="140025"/>
              </a:lnSpc>
              <a:spcBef>
                <a:spcPts val="0"/>
              </a:spcBef>
              <a:spcAft>
                <a:spcPts val="0"/>
              </a:spcAft>
              <a:buNone/>
            </a:pPr>
            <a:r>
              <a:t/>
            </a:r>
            <a:endParaRPr b="0" i="0" sz="1599" u="none" cap="none" strike="noStrike">
              <a:solidFill>
                <a:srgbClr val="C3C5C6"/>
              </a:solidFill>
              <a:latin typeface="Poppins Light"/>
              <a:ea typeface="Poppins Light"/>
              <a:cs typeface="Poppins Light"/>
              <a:sym typeface="Poppins Light"/>
            </a:endParaRPr>
          </a:p>
          <a:p>
            <a:pPr indent="0" lvl="0" marL="0" marR="0" rtl="0" algn="l">
              <a:lnSpc>
                <a:spcPct val="140025"/>
              </a:lnSpc>
              <a:spcBef>
                <a:spcPts val="0"/>
              </a:spcBef>
              <a:spcAft>
                <a:spcPts val="0"/>
              </a:spcAft>
              <a:buNone/>
            </a:pPr>
            <a:r>
              <a:rPr b="0" i="0" lang="en-US" sz="1599" u="none" cap="none" strike="noStrike">
                <a:solidFill>
                  <a:srgbClr val="C3C5C6"/>
                </a:solidFill>
                <a:latin typeface="Poppins Light"/>
                <a:ea typeface="Poppins Light"/>
                <a:cs typeface="Poppins Light"/>
                <a:sym typeface="Poppins Light"/>
              </a:rPr>
              <a:t>Halisi </a:t>
            </a:r>
            <a:r>
              <a:rPr b="1" i="0" lang="en-US" sz="1599" u="none" cap="none" strike="noStrike">
                <a:solidFill>
                  <a:srgbClr val="C3C5C6"/>
                </a:solidFill>
                <a:latin typeface="Poppins"/>
                <a:ea typeface="Poppins"/>
                <a:cs typeface="Poppins"/>
                <a:sym typeface="Poppins"/>
              </a:rPr>
              <a:t>analyses</a:t>
            </a:r>
            <a:r>
              <a:rPr b="0" i="0" lang="en-US" sz="1599" u="none" cap="none" strike="noStrike">
                <a:solidFill>
                  <a:srgbClr val="C3C5C6"/>
                </a:solidFill>
                <a:latin typeface="Poppins Light"/>
                <a:ea typeface="Poppins Light"/>
                <a:cs typeface="Poppins Light"/>
                <a:sym typeface="Poppins Light"/>
              </a:rPr>
              <a:t> language and other scam related signals, combining them into an overall threat assessment. Instead of simply flagging a page as suspicious, it provides a detailed report with evidence and actionable recommendations to help businesses </a:t>
            </a:r>
            <a:r>
              <a:rPr b="1" i="0" lang="en-US" sz="1599" u="none" cap="none" strike="noStrike">
                <a:solidFill>
                  <a:srgbClr val="C3C5C6"/>
                </a:solidFill>
                <a:latin typeface="Poppins"/>
                <a:ea typeface="Poppins"/>
                <a:cs typeface="Poppins"/>
                <a:sym typeface="Poppins"/>
              </a:rPr>
              <a:t>respond</a:t>
            </a:r>
            <a:r>
              <a:rPr b="0" i="0" lang="en-US" sz="1599" u="none" cap="none" strike="noStrike">
                <a:solidFill>
                  <a:srgbClr val="C3C5C6"/>
                </a:solidFill>
                <a:latin typeface="Poppins Light"/>
                <a:ea typeface="Poppins Light"/>
                <a:cs typeface="Poppins Light"/>
                <a:sym typeface="Poppins Light"/>
              </a:rPr>
              <a:t> to the threat.</a:t>
            </a:r>
            <a:endParaRPr/>
          </a:p>
          <a:p>
            <a:pPr indent="0" lvl="0" marL="0" marR="0" rtl="0" algn="l">
              <a:lnSpc>
                <a:spcPct val="140025"/>
              </a:lnSpc>
              <a:spcBef>
                <a:spcPts val="0"/>
              </a:spcBef>
              <a:spcAft>
                <a:spcPts val="0"/>
              </a:spcAft>
              <a:buNone/>
            </a:pPr>
            <a:r>
              <a:t/>
            </a:r>
            <a:endParaRPr b="0" i="0" sz="1599" u="none" cap="none" strike="noStrike">
              <a:solidFill>
                <a:srgbClr val="C3C5C6"/>
              </a:solidFill>
              <a:latin typeface="Poppins Light"/>
              <a:ea typeface="Poppins Light"/>
              <a:cs typeface="Poppins Light"/>
              <a:sym typeface="Poppins Light"/>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57" name="Shape 157"/>
        <p:cNvGrpSpPr/>
        <p:nvPr/>
      </p:nvGrpSpPr>
      <p:grpSpPr>
        <a:xfrm>
          <a:off x="0" y="0"/>
          <a:ext cx="0" cy="0"/>
          <a:chOff x="0" y="0"/>
          <a:chExt cx="0" cy="0"/>
        </a:xfrm>
      </p:grpSpPr>
      <p:sp>
        <p:nvSpPr>
          <p:cNvPr id="158" name="Google Shape;158;p18"/>
          <p:cNvSpPr/>
          <p:nvPr/>
        </p:nvSpPr>
        <p:spPr>
          <a:xfrm>
            <a:off x="0" y="1266444"/>
            <a:ext cx="18288000" cy="7754112"/>
          </a:xfrm>
          <a:custGeom>
            <a:rect b="b" l="l" r="r" t="t"/>
            <a:pathLst>
              <a:path extrusionOk="0" h="7754112" w="18288000">
                <a:moveTo>
                  <a:pt x="0" y="0"/>
                </a:moveTo>
                <a:lnTo>
                  <a:pt x="18288000" y="0"/>
                </a:lnTo>
                <a:lnTo>
                  <a:pt x="18288000" y="7754112"/>
                </a:lnTo>
                <a:lnTo>
                  <a:pt x="0" y="7754112"/>
                </a:lnTo>
                <a:lnTo>
                  <a:pt x="0" y="0"/>
                </a:lnTo>
                <a:close/>
              </a:path>
            </a:pathLst>
          </a:custGeom>
          <a:blipFill rotWithShape="1">
            <a:blip r:embed="rId3">
              <a:alphaModFix amt="60000"/>
            </a:blip>
            <a:stretch>
              <a:fillRect b="0" l="0" r="0" t="0"/>
            </a:stretch>
          </a:blipFill>
          <a:ln>
            <a:noFill/>
          </a:ln>
        </p:spPr>
      </p:sp>
      <p:cxnSp>
        <p:nvCxnSpPr>
          <p:cNvPr id="159" name="Google Shape;159;p18"/>
          <p:cNvCxnSpPr/>
          <p:nvPr/>
        </p:nvCxnSpPr>
        <p:spPr>
          <a:xfrm>
            <a:off x="9144000" y="3505000"/>
            <a:ext cx="567898" cy="0"/>
          </a:xfrm>
          <a:prstGeom prst="straightConnector1">
            <a:avLst/>
          </a:prstGeom>
          <a:noFill/>
          <a:ln cap="flat" cmpd="sng" w="38100">
            <a:solidFill>
              <a:srgbClr val="D2B99A"/>
            </a:solidFill>
            <a:prstDash val="solid"/>
            <a:round/>
            <a:headEnd len="sm" w="sm" type="none"/>
            <a:tailEnd len="sm" w="sm" type="none"/>
          </a:ln>
        </p:spPr>
      </p:cxnSp>
      <p:cxnSp>
        <p:nvCxnSpPr>
          <p:cNvPr id="160" name="Google Shape;160;p18"/>
          <p:cNvCxnSpPr/>
          <p:nvPr/>
        </p:nvCxnSpPr>
        <p:spPr>
          <a:xfrm flipH="1" rot="10800000">
            <a:off x="2089944" y="2557937"/>
            <a:ext cx="9013" cy="1416271"/>
          </a:xfrm>
          <a:prstGeom prst="straightConnector1">
            <a:avLst/>
          </a:prstGeom>
          <a:noFill/>
          <a:ln cap="flat" cmpd="sng" w="9525">
            <a:solidFill>
              <a:srgbClr val="C3C5C6"/>
            </a:solidFill>
            <a:prstDash val="solid"/>
            <a:round/>
            <a:headEnd len="sm" w="sm" type="none"/>
            <a:tailEnd len="sm" w="sm" type="none"/>
          </a:ln>
        </p:spPr>
      </p:cxnSp>
      <p:sp>
        <p:nvSpPr>
          <p:cNvPr id="161" name="Google Shape;161;p18"/>
          <p:cNvSpPr/>
          <p:nvPr/>
        </p:nvSpPr>
        <p:spPr>
          <a:xfrm>
            <a:off x="1769990" y="1266444"/>
            <a:ext cx="708148" cy="708148"/>
          </a:xfrm>
          <a:custGeom>
            <a:rect b="b" l="l" r="r" t="t"/>
            <a:pathLst>
              <a:path extrusionOk="0" h="708148" w="708148">
                <a:moveTo>
                  <a:pt x="0" y="0"/>
                </a:moveTo>
                <a:lnTo>
                  <a:pt x="708148" y="0"/>
                </a:lnTo>
                <a:lnTo>
                  <a:pt x="708148" y="708148"/>
                </a:lnTo>
                <a:lnTo>
                  <a:pt x="0" y="708148"/>
                </a:lnTo>
                <a:lnTo>
                  <a:pt x="0" y="0"/>
                </a:lnTo>
                <a:close/>
              </a:path>
            </a:pathLst>
          </a:custGeom>
          <a:blipFill rotWithShape="1">
            <a:blip r:embed="rId4">
              <a:alphaModFix/>
            </a:blip>
            <a:stretch>
              <a:fillRect b="0" l="0" r="0" t="0"/>
            </a:stretch>
          </a:blipFill>
          <a:ln>
            <a:noFill/>
          </a:ln>
        </p:spPr>
      </p:sp>
      <p:sp>
        <p:nvSpPr>
          <p:cNvPr id="162" name="Google Shape;162;p18"/>
          <p:cNvSpPr/>
          <p:nvPr/>
        </p:nvSpPr>
        <p:spPr>
          <a:xfrm>
            <a:off x="1779002" y="4341500"/>
            <a:ext cx="690122" cy="708148"/>
          </a:xfrm>
          <a:custGeom>
            <a:rect b="b" l="l" r="r" t="t"/>
            <a:pathLst>
              <a:path extrusionOk="0" h="708148" w="690122">
                <a:moveTo>
                  <a:pt x="0" y="0"/>
                </a:moveTo>
                <a:lnTo>
                  <a:pt x="690123" y="0"/>
                </a:lnTo>
                <a:lnTo>
                  <a:pt x="690123" y="708148"/>
                </a:lnTo>
                <a:lnTo>
                  <a:pt x="0" y="708148"/>
                </a:lnTo>
                <a:lnTo>
                  <a:pt x="0" y="0"/>
                </a:lnTo>
                <a:close/>
              </a:path>
            </a:pathLst>
          </a:custGeom>
          <a:blipFill rotWithShape="1">
            <a:blip r:embed="rId5">
              <a:alphaModFix/>
            </a:blip>
            <a:stretch>
              <a:fillRect b="0" l="0" r="0" t="0"/>
            </a:stretch>
          </a:blipFill>
          <a:ln>
            <a:noFill/>
          </a:ln>
        </p:spPr>
      </p:sp>
      <p:sp>
        <p:nvSpPr>
          <p:cNvPr id="163" name="Google Shape;163;p18"/>
          <p:cNvSpPr txBox="1"/>
          <p:nvPr/>
        </p:nvSpPr>
        <p:spPr>
          <a:xfrm>
            <a:off x="9144000" y="2591181"/>
            <a:ext cx="5905500" cy="7994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5600" u="none" cap="none" strike="noStrike">
                <a:solidFill>
                  <a:srgbClr val="FFFFFF"/>
                </a:solidFill>
                <a:latin typeface="Poppins Light"/>
                <a:ea typeface="Poppins Light"/>
                <a:cs typeface="Poppins Light"/>
                <a:sym typeface="Poppins Light"/>
              </a:rPr>
              <a:t>HOW IT WORKS</a:t>
            </a:r>
            <a:endParaRPr/>
          </a:p>
        </p:txBody>
      </p:sp>
      <p:sp>
        <p:nvSpPr>
          <p:cNvPr id="164" name="Google Shape;164;p18"/>
          <p:cNvSpPr txBox="1"/>
          <p:nvPr/>
        </p:nvSpPr>
        <p:spPr>
          <a:xfrm>
            <a:off x="9144000" y="4258833"/>
            <a:ext cx="3937635" cy="375285"/>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2100" u="none" cap="none" strike="noStrike">
                <a:solidFill>
                  <a:srgbClr val="FFFFFF"/>
                </a:solidFill>
                <a:latin typeface="Poppins"/>
                <a:ea typeface="Poppins"/>
                <a:cs typeface="Poppins"/>
                <a:sym typeface="Poppins"/>
              </a:rPr>
              <a:t>FROM SIGNAL TO VERDICT</a:t>
            </a:r>
            <a:endParaRPr/>
          </a:p>
        </p:txBody>
      </p:sp>
      <p:sp>
        <p:nvSpPr>
          <p:cNvPr id="165" name="Google Shape;165;p18"/>
          <p:cNvSpPr txBox="1"/>
          <p:nvPr/>
        </p:nvSpPr>
        <p:spPr>
          <a:xfrm>
            <a:off x="4001265" y="1367691"/>
            <a:ext cx="4033868" cy="429454"/>
          </a:xfrm>
          <a:prstGeom prst="rect">
            <a:avLst/>
          </a:prstGeom>
          <a:noFill/>
          <a:ln>
            <a:noFill/>
          </a:ln>
        </p:spPr>
        <p:txBody>
          <a:bodyPr anchorCtr="0" anchor="t" bIns="0" lIns="0" spcFirstLastPara="1" rIns="0" wrap="square" tIns="0">
            <a:spAutoFit/>
          </a:bodyPr>
          <a:lstStyle/>
          <a:p>
            <a:pPr indent="0" lvl="0" marL="0" marR="0" rtl="0" algn="l">
              <a:lnSpc>
                <a:spcPct val="140008"/>
              </a:lnSpc>
              <a:spcBef>
                <a:spcPts val="0"/>
              </a:spcBef>
              <a:spcAft>
                <a:spcPts val="0"/>
              </a:spcAft>
              <a:buNone/>
            </a:pPr>
            <a:r>
              <a:rPr b="0" i="0" lang="en-US" sz="2367" u="none" cap="none" strike="noStrike">
                <a:solidFill>
                  <a:srgbClr val="FFFFFF"/>
                </a:solidFill>
                <a:latin typeface="Poppins"/>
                <a:ea typeface="Poppins"/>
                <a:cs typeface="Poppins"/>
                <a:sym typeface="Poppins"/>
              </a:rPr>
              <a:t>TARGET</a:t>
            </a:r>
            <a:endParaRPr/>
          </a:p>
        </p:txBody>
      </p:sp>
      <p:sp>
        <p:nvSpPr>
          <p:cNvPr id="166" name="Google Shape;166;p18"/>
          <p:cNvSpPr txBox="1"/>
          <p:nvPr/>
        </p:nvSpPr>
        <p:spPr>
          <a:xfrm>
            <a:off x="4001265" y="4442747"/>
            <a:ext cx="4033868" cy="429454"/>
          </a:xfrm>
          <a:prstGeom prst="rect">
            <a:avLst/>
          </a:prstGeom>
          <a:noFill/>
          <a:ln>
            <a:noFill/>
          </a:ln>
        </p:spPr>
        <p:txBody>
          <a:bodyPr anchorCtr="0" anchor="t" bIns="0" lIns="0" spcFirstLastPara="1" rIns="0" wrap="square" tIns="0">
            <a:spAutoFit/>
          </a:bodyPr>
          <a:lstStyle/>
          <a:p>
            <a:pPr indent="0" lvl="0" marL="0" marR="0" rtl="0" algn="l">
              <a:lnSpc>
                <a:spcPct val="140008"/>
              </a:lnSpc>
              <a:spcBef>
                <a:spcPts val="0"/>
              </a:spcBef>
              <a:spcAft>
                <a:spcPts val="0"/>
              </a:spcAft>
              <a:buNone/>
            </a:pPr>
            <a:r>
              <a:rPr b="0" i="0" lang="en-US" sz="2367" u="none" cap="none" strike="noStrike">
                <a:solidFill>
                  <a:srgbClr val="FFFFFF"/>
                </a:solidFill>
                <a:latin typeface="Poppins"/>
                <a:ea typeface="Poppins"/>
                <a:cs typeface="Poppins"/>
                <a:sym typeface="Poppins"/>
              </a:rPr>
              <a:t>DATA EXTRACTION</a:t>
            </a:r>
            <a:endParaRPr/>
          </a:p>
        </p:txBody>
      </p:sp>
      <p:sp>
        <p:nvSpPr>
          <p:cNvPr id="167" name="Google Shape;167;p18"/>
          <p:cNvSpPr txBox="1"/>
          <p:nvPr/>
        </p:nvSpPr>
        <p:spPr>
          <a:xfrm>
            <a:off x="9144000" y="5095875"/>
            <a:ext cx="5905500" cy="1111885"/>
          </a:xfrm>
          <a:prstGeom prst="rect">
            <a:avLst/>
          </a:prstGeom>
          <a:noFill/>
          <a:ln>
            <a:noFill/>
          </a:ln>
        </p:spPr>
        <p:txBody>
          <a:bodyPr anchorCtr="0" anchor="t" bIns="0" lIns="0" spcFirstLastPara="1" rIns="0" wrap="square" tIns="0">
            <a:spAutoFit/>
          </a:bodyPr>
          <a:lstStyle/>
          <a:p>
            <a:pPr indent="0" lvl="0" marL="0" marR="0" rtl="0" algn="l">
              <a:lnSpc>
                <a:spcPct val="140025"/>
              </a:lnSpc>
              <a:spcBef>
                <a:spcPts val="0"/>
              </a:spcBef>
              <a:spcAft>
                <a:spcPts val="0"/>
              </a:spcAft>
              <a:buNone/>
            </a:pPr>
            <a:r>
              <a:rPr b="0" i="0" lang="en-US" sz="1599" u="none" cap="none" strike="noStrike">
                <a:solidFill>
                  <a:srgbClr val="C3C5C6"/>
                </a:solidFill>
                <a:latin typeface="Poppins Light"/>
                <a:ea typeface="Poppins Light"/>
                <a:cs typeface="Poppins Light"/>
                <a:sym typeface="Poppins Light"/>
              </a:rPr>
              <a:t>Halisi analyzes the digital identity of a business across multiple signals, combining visual, identity, payment and language evidence into a single confidence-based assessment.</a:t>
            </a:r>
            <a:endParaRPr/>
          </a:p>
        </p:txBody>
      </p:sp>
      <p:sp>
        <p:nvSpPr>
          <p:cNvPr id="168" name="Google Shape;168;p18"/>
          <p:cNvSpPr txBox="1"/>
          <p:nvPr/>
        </p:nvSpPr>
        <p:spPr>
          <a:xfrm>
            <a:off x="4001265" y="1893944"/>
            <a:ext cx="4033868" cy="1936659"/>
          </a:xfrm>
          <a:prstGeom prst="rect">
            <a:avLst/>
          </a:prstGeom>
          <a:noFill/>
          <a:ln>
            <a:noFill/>
          </a:ln>
        </p:spPr>
        <p:txBody>
          <a:bodyPr anchorCtr="0" anchor="t" bIns="0" lIns="0" spcFirstLastPara="1" rIns="0" wrap="square" tIns="0">
            <a:spAutoFit/>
          </a:bodyPr>
          <a:lstStyle/>
          <a:p>
            <a:pPr indent="0" lvl="0" marL="0" marR="0" rtl="0" algn="l">
              <a:lnSpc>
                <a:spcPct val="139987"/>
              </a:lnSpc>
              <a:spcBef>
                <a:spcPts val="0"/>
              </a:spcBef>
              <a:spcAft>
                <a:spcPts val="0"/>
              </a:spcAft>
              <a:buNone/>
            </a:pPr>
            <a:r>
              <a:rPr b="1" i="0" lang="en-US" sz="1578" u="none" cap="none" strike="noStrike">
                <a:solidFill>
                  <a:srgbClr val="C3C5C6"/>
                </a:solidFill>
                <a:latin typeface="Poppins"/>
                <a:ea typeface="Poppins"/>
                <a:cs typeface="Poppins"/>
                <a:sym typeface="Poppins"/>
              </a:rPr>
              <a:t>Identify the page or account being investigated.</a:t>
            </a:r>
            <a:endParaRPr/>
          </a:p>
          <a:p>
            <a:pPr indent="0" lvl="0" marL="0" marR="0" rtl="0" algn="l">
              <a:lnSpc>
                <a:spcPct val="139987"/>
              </a:lnSpc>
              <a:spcBef>
                <a:spcPts val="0"/>
              </a:spcBef>
              <a:spcAft>
                <a:spcPts val="0"/>
              </a:spcAft>
              <a:buNone/>
            </a:pPr>
            <a:r>
              <a:rPr b="0" i="0" lang="en-US" sz="1578" u="none" cap="none" strike="noStrike">
                <a:solidFill>
                  <a:srgbClr val="C3C5C6"/>
                </a:solidFill>
                <a:latin typeface="Poppins"/>
                <a:ea typeface="Poppins"/>
                <a:cs typeface="Poppins"/>
                <a:sym typeface="Poppins"/>
              </a:rPr>
              <a:t>Halisi takes a social media page, account or website suspected of impersonating a legitimate business and begins collecting relevant information</a:t>
            </a:r>
            <a:endParaRPr/>
          </a:p>
        </p:txBody>
      </p:sp>
      <p:sp>
        <p:nvSpPr>
          <p:cNvPr id="169" name="Google Shape;169;p18"/>
          <p:cNvSpPr txBox="1"/>
          <p:nvPr/>
        </p:nvSpPr>
        <p:spPr>
          <a:xfrm>
            <a:off x="4001265" y="5034593"/>
            <a:ext cx="4033868" cy="1936659"/>
          </a:xfrm>
          <a:prstGeom prst="rect">
            <a:avLst/>
          </a:prstGeom>
          <a:noFill/>
          <a:ln>
            <a:noFill/>
          </a:ln>
        </p:spPr>
        <p:txBody>
          <a:bodyPr anchorCtr="0" anchor="t" bIns="0" lIns="0" spcFirstLastPara="1" rIns="0" wrap="square" tIns="0">
            <a:spAutoFit/>
          </a:bodyPr>
          <a:lstStyle/>
          <a:p>
            <a:pPr indent="0" lvl="0" marL="0" marR="0" rtl="0" algn="l">
              <a:lnSpc>
                <a:spcPct val="139987"/>
              </a:lnSpc>
              <a:spcBef>
                <a:spcPts val="0"/>
              </a:spcBef>
              <a:spcAft>
                <a:spcPts val="0"/>
              </a:spcAft>
              <a:buNone/>
            </a:pPr>
            <a:r>
              <a:rPr b="1" i="0" lang="en-US" sz="1578" u="none" cap="none" strike="noStrike">
                <a:solidFill>
                  <a:srgbClr val="C3C5C6"/>
                </a:solidFill>
                <a:latin typeface="Poppins"/>
                <a:ea typeface="Poppins"/>
                <a:cs typeface="Poppins"/>
                <a:sym typeface="Poppins"/>
              </a:rPr>
              <a:t>Extract the information needed for verification.</a:t>
            </a:r>
            <a:endParaRPr/>
          </a:p>
          <a:p>
            <a:pPr indent="0" lvl="0" marL="0" marR="0" rtl="0" algn="l">
              <a:lnSpc>
                <a:spcPct val="139987"/>
              </a:lnSpc>
              <a:spcBef>
                <a:spcPts val="0"/>
              </a:spcBef>
              <a:spcAft>
                <a:spcPts val="0"/>
              </a:spcAft>
              <a:buNone/>
            </a:pPr>
            <a:r>
              <a:rPr b="0" i="0" lang="en-US" sz="1578" u="none" cap="none" strike="noStrike">
                <a:solidFill>
                  <a:srgbClr val="C3C5C6"/>
                </a:solidFill>
                <a:latin typeface="Poppins"/>
                <a:ea typeface="Poppins"/>
                <a:cs typeface="Poppins"/>
                <a:sym typeface="Poppins"/>
              </a:rPr>
              <a:t>Halisi collects usernames, handles, visual elements page content and payment details such as M-Pesa numbers, Till numbers, Paybill numbers and Pochi La Biashara details</a:t>
            </a:r>
            <a:endParaRPr/>
          </a:p>
        </p:txBody>
      </p:sp>
      <p:cxnSp>
        <p:nvCxnSpPr>
          <p:cNvPr id="170" name="Google Shape;170;p18"/>
          <p:cNvCxnSpPr/>
          <p:nvPr/>
        </p:nvCxnSpPr>
        <p:spPr>
          <a:xfrm rot="10800000">
            <a:off x="2080931" y="5702987"/>
            <a:ext cx="2749" cy="1186877"/>
          </a:xfrm>
          <a:prstGeom prst="straightConnector1">
            <a:avLst/>
          </a:prstGeom>
          <a:noFill/>
          <a:ln cap="flat" cmpd="sng" w="9525">
            <a:solidFill>
              <a:srgbClr val="C3C5C6"/>
            </a:solidFill>
            <a:prstDash val="solid"/>
            <a:round/>
            <a:headEnd len="sm" w="sm" type="none"/>
            <a:tailEnd len="sm" w="sm" type="none"/>
          </a:ln>
        </p:spPr>
      </p:cxnSp>
      <p:sp>
        <p:nvSpPr>
          <p:cNvPr id="171" name="Google Shape;171;p18"/>
          <p:cNvSpPr/>
          <p:nvPr/>
        </p:nvSpPr>
        <p:spPr>
          <a:xfrm>
            <a:off x="1744883" y="7289432"/>
            <a:ext cx="690122" cy="708148"/>
          </a:xfrm>
          <a:custGeom>
            <a:rect b="b" l="l" r="r" t="t"/>
            <a:pathLst>
              <a:path extrusionOk="0" h="708148" w="690122">
                <a:moveTo>
                  <a:pt x="0" y="0"/>
                </a:moveTo>
                <a:lnTo>
                  <a:pt x="690122" y="0"/>
                </a:lnTo>
                <a:lnTo>
                  <a:pt x="690122" y="708148"/>
                </a:lnTo>
                <a:lnTo>
                  <a:pt x="0" y="708148"/>
                </a:lnTo>
                <a:lnTo>
                  <a:pt x="0" y="0"/>
                </a:lnTo>
                <a:close/>
              </a:path>
            </a:pathLst>
          </a:custGeom>
          <a:blipFill rotWithShape="1">
            <a:blip r:embed="rId5">
              <a:alphaModFix/>
            </a:blip>
            <a:stretch>
              <a:fillRect b="0" l="0" r="0" t="0"/>
            </a:stretch>
          </a:blipFill>
          <a:ln>
            <a:noFill/>
          </a:ln>
        </p:spPr>
      </p:sp>
      <p:sp>
        <p:nvSpPr>
          <p:cNvPr id="172" name="Google Shape;172;p18"/>
          <p:cNvSpPr txBox="1"/>
          <p:nvPr/>
        </p:nvSpPr>
        <p:spPr>
          <a:xfrm>
            <a:off x="3983239" y="7390678"/>
            <a:ext cx="4033868" cy="429454"/>
          </a:xfrm>
          <a:prstGeom prst="rect">
            <a:avLst/>
          </a:prstGeom>
          <a:noFill/>
          <a:ln>
            <a:noFill/>
          </a:ln>
        </p:spPr>
        <p:txBody>
          <a:bodyPr anchorCtr="0" anchor="t" bIns="0" lIns="0" spcFirstLastPara="1" rIns="0" wrap="square" tIns="0">
            <a:spAutoFit/>
          </a:bodyPr>
          <a:lstStyle/>
          <a:p>
            <a:pPr indent="0" lvl="0" marL="0" marR="0" rtl="0" algn="l">
              <a:lnSpc>
                <a:spcPct val="140008"/>
              </a:lnSpc>
              <a:spcBef>
                <a:spcPts val="0"/>
              </a:spcBef>
              <a:spcAft>
                <a:spcPts val="0"/>
              </a:spcAft>
              <a:buNone/>
            </a:pPr>
            <a:r>
              <a:rPr b="0" i="0" lang="en-US" sz="2367" u="none" cap="none" strike="noStrike">
                <a:solidFill>
                  <a:srgbClr val="FFFFFF"/>
                </a:solidFill>
                <a:latin typeface="Poppins"/>
                <a:ea typeface="Poppins"/>
                <a:cs typeface="Poppins"/>
                <a:sym typeface="Poppins"/>
              </a:rPr>
              <a:t>SIGNAL ANALYSIS</a:t>
            </a:r>
            <a:endParaRPr/>
          </a:p>
        </p:txBody>
      </p:sp>
      <p:sp>
        <p:nvSpPr>
          <p:cNvPr id="173" name="Google Shape;173;p18"/>
          <p:cNvSpPr txBox="1"/>
          <p:nvPr/>
        </p:nvSpPr>
        <p:spPr>
          <a:xfrm>
            <a:off x="3983239" y="7982524"/>
            <a:ext cx="4033868" cy="1936659"/>
          </a:xfrm>
          <a:prstGeom prst="rect">
            <a:avLst/>
          </a:prstGeom>
          <a:noFill/>
          <a:ln>
            <a:noFill/>
          </a:ln>
        </p:spPr>
        <p:txBody>
          <a:bodyPr anchorCtr="0" anchor="t" bIns="0" lIns="0" spcFirstLastPara="1" rIns="0" wrap="square" tIns="0">
            <a:spAutoFit/>
          </a:bodyPr>
          <a:lstStyle/>
          <a:p>
            <a:pPr indent="0" lvl="0" marL="0" marR="0" rtl="0" algn="l">
              <a:lnSpc>
                <a:spcPct val="139987"/>
              </a:lnSpc>
              <a:spcBef>
                <a:spcPts val="0"/>
              </a:spcBef>
              <a:spcAft>
                <a:spcPts val="0"/>
              </a:spcAft>
              <a:buNone/>
            </a:pPr>
            <a:r>
              <a:rPr b="1" i="0" lang="en-US" sz="1578" u="none" cap="none" strike="noStrike">
                <a:solidFill>
                  <a:srgbClr val="C3C5C6"/>
                </a:solidFill>
                <a:latin typeface="Poppins"/>
                <a:ea typeface="Poppins"/>
                <a:cs typeface="Poppins"/>
                <a:sym typeface="Poppins"/>
              </a:rPr>
              <a:t>Compare and analyse the extracted information.</a:t>
            </a:r>
            <a:endParaRPr/>
          </a:p>
          <a:p>
            <a:pPr indent="0" lvl="0" marL="0" marR="0" rtl="0" algn="l">
              <a:lnSpc>
                <a:spcPct val="139987"/>
              </a:lnSpc>
              <a:spcBef>
                <a:spcPts val="0"/>
              </a:spcBef>
              <a:spcAft>
                <a:spcPts val="0"/>
              </a:spcAft>
              <a:buNone/>
            </a:pPr>
            <a:r>
              <a:rPr b="0" i="0" lang="en-US" sz="1578" u="none" cap="none" strike="noStrike">
                <a:solidFill>
                  <a:srgbClr val="C3C5C6"/>
                </a:solidFill>
                <a:latin typeface="Poppins"/>
                <a:ea typeface="Poppins"/>
                <a:cs typeface="Poppins"/>
                <a:sym typeface="Poppins"/>
              </a:rPr>
              <a:t>The system compares visual identity, usernames and other account details while analysing language and scam related signals to identify similarities and suspicious patterns.</a:t>
            </a:r>
            <a:endParaRPr/>
          </a:p>
        </p:txBody>
      </p:sp>
      <p:cxnSp>
        <p:nvCxnSpPr>
          <p:cNvPr id="174" name="Google Shape;174;p18"/>
          <p:cNvCxnSpPr/>
          <p:nvPr/>
        </p:nvCxnSpPr>
        <p:spPr>
          <a:xfrm rot="10800000">
            <a:off x="2080931" y="8415623"/>
            <a:ext cx="0" cy="4556926"/>
          </a:xfrm>
          <a:prstGeom prst="straightConnector1">
            <a:avLst/>
          </a:prstGeom>
          <a:noFill/>
          <a:ln cap="flat" cmpd="sng" w="9525">
            <a:solidFill>
              <a:srgbClr val="C3C5C6"/>
            </a:solidFill>
            <a:prstDash val="solid"/>
            <a:round/>
            <a:headEnd len="sm" w="sm" type="none"/>
            <a:tailEnd len="sm" w="sm" type="none"/>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78" name="Shape 178"/>
        <p:cNvGrpSpPr/>
        <p:nvPr/>
      </p:nvGrpSpPr>
      <p:grpSpPr>
        <a:xfrm>
          <a:off x="0" y="0"/>
          <a:ext cx="0" cy="0"/>
          <a:chOff x="0" y="0"/>
          <a:chExt cx="0" cy="0"/>
        </a:xfrm>
      </p:grpSpPr>
      <p:sp>
        <p:nvSpPr>
          <p:cNvPr id="179" name="Google Shape;179;p19"/>
          <p:cNvSpPr/>
          <p:nvPr/>
        </p:nvSpPr>
        <p:spPr>
          <a:xfrm>
            <a:off x="634749" y="958620"/>
            <a:ext cx="18288000" cy="7754112"/>
          </a:xfrm>
          <a:custGeom>
            <a:rect b="b" l="l" r="r" t="t"/>
            <a:pathLst>
              <a:path extrusionOk="0" h="7754112" w="18288000">
                <a:moveTo>
                  <a:pt x="0" y="0"/>
                </a:moveTo>
                <a:lnTo>
                  <a:pt x="18288000" y="0"/>
                </a:lnTo>
                <a:lnTo>
                  <a:pt x="18288000" y="7754112"/>
                </a:lnTo>
                <a:lnTo>
                  <a:pt x="0" y="7754112"/>
                </a:lnTo>
                <a:lnTo>
                  <a:pt x="0" y="0"/>
                </a:lnTo>
                <a:close/>
              </a:path>
            </a:pathLst>
          </a:custGeom>
          <a:blipFill rotWithShape="1">
            <a:blip r:embed="rId3">
              <a:alphaModFix amt="60000"/>
            </a:blip>
            <a:stretch>
              <a:fillRect b="0" l="0" r="0" t="0"/>
            </a:stretch>
          </a:blipFill>
          <a:ln>
            <a:noFill/>
          </a:ln>
        </p:spPr>
      </p:sp>
      <p:cxnSp>
        <p:nvCxnSpPr>
          <p:cNvPr id="180" name="Google Shape;180;p19"/>
          <p:cNvCxnSpPr/>
          <p:nvPr/>
        </p:nvCxnSpPr>
        <p:spPr>
          <a:xfrm rot="10800000">
            <a:off x="2856725" y="4336000"/>
            <a:ext cx="0" cy="1604100"/>
          </a:xfrm>
          <a:prstGeom prst="straightConnector1">
            <a:avLst/>
          </a:prstGeom>
          <a:noFill/>
          <a:ln cap="flat" cmpd="sng" w="9525">
            <a:solidFill>
              <a:srgbClr val="C3C5C6"/>
            </a:solidFill>
            <a:prstDash val="solid"/>
            <a:round/>
            <a:headEnd len="sm" w="sm" type="none"/>
            <a:tailEnd len="sm" w="sm" type="none"/>
          </a:ln>
        </p:spPr>
      </p:cxnSp>
      <p:sp>
        <p:nvSpPr>
          <p:cNvPr id="181" name="Google Shape;181;p19"/>
          <p:cNvSpPr/>
          <p:nvPr/>
        </p:nvSpPr>
        <p:spPr>
          <a:xfrm>
            <a:off x="2605820" y="3450195"/>
            <a:ext cx="511390" cy="623976"/>
          </a:xfrm>
          <a:custGeom>
            <a:rect b="b" l="l" r="r" t="t"/>
            <a:pathLst>
              <a:path extrusionOk="0" h="623976" w="511390">
                <a:moveTo>
                  <a:pt x="0" y="0"/>
                </a:moveTo>
                <a:lnTo>
                  <a:pt x="511391" y="0"/>
                </a:lnTo>
                <a:lnTo>
                  <a:pt x="511391" y="623976"/>
                </a:lnTo>
                <a:lnTo>
                  <a:pt x="0" y="623976"/>
                </a:lnTo>
                <a:lnTo>
                  <a:pt x="0" y="0"/>
                </a:lnTo>
                <a:close/>
              </a:path>
            </a:pathLst>
          </a:custGeom>
          <a:blipFill rotWithShape="1">
            <a:blip r:embed="rId4">
              <a:alphaModFix/>
            </a:blip>
            <a:stretch>
              <a:fillRect b="0" l="0" r="0" t="0"/>
            </a:stretch>
          </a:blipFill>
          <a:ln>
            <a:noFill/>
          </a:ln>
        </p:spPr>
      </p:sp>
      <p:sp>
        <p:nvSpPr>
          <p:cNvPr id="182" name="Google Shape;182;p19"/>
          <p:cNvSpPr/>
          <p:nvPr/>
        </p:nvSpPr>
        <p:spPr>
          <a:xfrm>
            <a:off x="2605822" y="6272286"/>
            <a:ext cx="619438" cy="623976"/>
          </a:xfrm>
          <a:custGeom>
            <a:rect b="b" l="l" r="r" t="t"/>
            <a:pathLst>
              <a:path extrusionOk="0" h="623976" w="619438">
                <a:moveTo>
                  <a:pt x="0" y="0"/>
                </a:moveTo>
                <a:lnTo>
                  <a:pt x="619438" y="0"/>
                </a:lnTo>
                <a:lnTo>
                  <a:pt x="619438" y="623976"/>
                </a:lnTo>
                <a:lnTo>
                  <a:pt x="0" y="623976"/>
                </a:lnTo>
                <a:lnTo>
                  <a:pt x="0" y="0"/>
                </a:lnTo>
                <a:close/>
              </a:path>
            </a:pathLst>
          </a:custGeom>
          <a:blipFill rotWithShape="1">
            <a:blip r:embed="rId5">
              <a:alphaModFix/>
            </a:blip>
            <a:stretch>
              <a:fillRect b="0" l="0" r="0" t="0"/>
            </a:stretch>
          </a:blipFill>
          <a:ln>
            <a:noFill/>
          </a:ln>
        </p:spPr>
      </p:sp>
      <p:sp>
        <p:nvSpPr>
          <p:cNvPr id="183" name="Google Shape;183;p19"/>
          <p:cNvSpPr txBox="1"/>
          <p:nvPr/>
        </p:nvSpPr>
        <p:spPr>
          <a:xfrm>
            <a:off x="4672992" y="3525325"/>
            <a:ext cx="3886691" cy="407041"/>
          </a:xfrm>
          <a:prstGeom prst="rect">
            <a:avLst/>
          </a:prstGeom>
          <a:noFill/>
          <a:ln>
            <a:noFill/>
          </a:ln>
        </p:spPr>
        <p:txBody>
          <a:bodyPr anchorCtr="0" anchor="t" bIns="0" lIns="0" spcFirstLastPara="1" rIns="0" wrap="square" tIns="0">
            <a:spAutoFit/>
          </a:bodyPr>
          <a:lstStyle/>
          <a:p>
            <a:pPr indent="0" lvl="0" marL="0" marR="0" rtl="0" algn="l">
              <a:lnSpc>
                <a:spcPct val="140043"/>
              </a:lnSpc>
              <a:spcBef>
                <a:spcPts val="0"/>
              </a:spcBef>
              <a:spcAft>
                <a:spcPts val="0"/>
              </a:spcAft>
              <a:buNone/>
            </a:pPr>
            <a:r>
              <a:rPr b="0" i="0" lang="en-US" sz="2280" u="none" cap="none" strike="noStrike">
                <a:solidFill>
                  <a:srgbClr val="FFFFFF"/>
                </a:solidFill>
                <a:latin typeface="Poppins"/>
                <a:ea typeface="Poppins"/>
                <a:cs typeface="Poppins"/>
                <a:sym typeface="Poppins"/>
              </a:rPr>
              <a:t>VERDICT</a:t>
            </a:r>
            <a:endParaRPr/>
          </a:p>
        </p:txBody>
      </p:sp>
      <p:sp>
        <p:nvSpPr>
          <p:cNvPr id="184" name="Google Shape;184;p19"/>
          <p:cNvSpPr txBox="1"/>
          <p:nvPr/>
        </p:nvSpPr>
        <p:spPr>
          <a:xfrm>
            <a:off x="4722792" y="6489222"/>
            <a:ext cx="3886800" cy="351000"/>
          </a:xfrm>
          <a:prstGeom prst="rect">
            <a:avLst/>
          </a:prstGeom>
          <a:noFill/>
          <a:ln>
            <a:noFill/>
          </a:ln>
        </p:spPr>
        <p:txBody>
          <a:bodyPr anchorCtr="0" anchor="t" bIns="0" lIns="0" spcFirstLastPara="1" rIns="0" wrap="square" tIns="0">
            <a:spAutoFit/>
          </a:bodyPr>
          <a:lstStyle/>
          <a:p>
            <a:pPr indent="0" lvl="0" marL="0" marR="0" rtl="0" algn="l">
              <a:lnSpc>
                <a:spcPct val="140043"/>
              </a:lnSpc>
              <a:spcBef>
                <a:spcPts val="0"/>
              </a:spcBef>
              <a:spcAft>
                <a:spcPts val="0"/>
              </a:spcAft>
              <a:buNone/>
            </a:pPr>
            <a:r>
              <a:rPr b="0" i="0" lang="en-US" sz="2280" u="none" cap="none" strike="noStrike">
                <a:solidFill>
                  <a:srgbClr val="FFFFFF"/>
                </a:solidFill>
                <a:latin typeface="Poppins"/>
                <a:ea typeface="Poppins"/>
                <a:cs typeface="Poppins"/>
                <a:sym typeface="Poppins"/>
              </a:rPr>
              <a:t>ALERT/ ACTION</a:t>
            </a:r>
            <a:endParaRPr/>
          </a:p>
        </p:txBody>
      </p:sp>
      <p:sp>
        <p:nvSpPr>
          <p:cNvPr id="185" name="Google Shape;185;p19"/>
          <p:cNvSpPr txBox="1"/>
          <p:nvPr/>
        </p:nvSpPr>
        <p:spPr>
          <a:xfrm>
            <a:off x="4655624" y="4026546"/>
            <a:ext cx="3886691" cy="1885439"/>
          </a:xfrm>
          <a:prstGeom prst="rect">
            <a:avLst/>
          </a:prstGeom>
          <a:noFill/>
          <a:ln>
            <a:noFill/>
          </a:ln>
        </p:spPr>
        <p:txBody>
          <a:bodyPr anchorCtr="0" anchor="t" bIns="0" lIns="0" spcFirstLastPara="1" rIns="0" wrap="square" tIns="0">
            <a:spAutoFit/>
          </a:bodyPr>
          <a:lstStyle/>
          <a:p>
            <a:pPr indent="0" lvl="0" marL="0" marR="0" rtl="0" algn="l">
              <a:lnSpc>
                <a:spcPct val="139966"/>
              </a:lnSpc>
              <a:spcBef>
                <a:spcPts val="0"/>
              </a:spcBef>
              <a:spcAft>
                <a:spcPts val="0"/>
              </a:spcAft>
              <a:buNone/>
            </a:pPr>
            <a:r>
              <a:rPr b="1" i="0" lang="en-US" sz="1774" u="none" cap="none" strike="noStrike">
                <a:solidFill>
                  <a:srgbClr val="C3C5C6"/>
                </a:solidFill>
                <a:latin typeface="Poppins"/>
                <a:ea typeface="Poppins"/>
                <a:cs typeface="Poppins"/>
                <a:sym typeface="Poppins"/>
              </a:rPr>
              <a:t>Understand the evidence.</a:t>
            </a:r>
            <a:endParaRPr/>
          </a:p>
          <a:p>
            <a:pPr indent="0" lvl="0" marL="0" marR="0" rtl="0" algn="l">
              <a:lnSpc>
                <a:spcPct val="139966"/>
              </a:lnSpc>
              <a:spcBef>
                <a:spcPts val="0"/>
              </a:spcBef>
              <a:spcAft>
                <a:spcPts val="0"/>
              </a:spcAft>
              <a:buNone/>
            </a:pPr>
            <a:r>
              <a:rPr b="0" i="0" lang="en-US" sz="1774" u="none" cap="none" strike="noStrike">
                <a:solidFill>
                  <a:srgbClr val="C3C5C6"/>
                </a:solidFill>
                <a:latin typeface="Poppins"/>
                <a:ea typeface="Poppins"/>
                <a:cs typeface="Poppins"/>
                <a:sym typeface="Poppins"/>
              </a:rPr>
              <a:t>Halisi presents the signals behind the result, showing why the account was flagged and which pieces of evidence contributed to the assessment.</a:t>
            </a:r>
            <a:endParaRPr/>
          </a:p>
        </p:txBody>
      </p:sp>
      <p:sp>
        <p:nvSpPr>
          <p:cNvPr id="186" name="Google Shape;186;p19"/>
          <p:cNvSpPr txBox="1"/>
          <p:nvPr/>
        </p:nvSpPr>
        <p:spPr>
          <a:xfrm>
            <a:off x="4705424" y="6991512"/>
            <a:ext cx="3886800" cy="2566200"/>
          </a:xfrm>
          <a:prstGeom prst="rect">
            <a:avLst/>
          </a:prstGeom>
          <a:noFill/>
          <a:ln>
            <a:noFill/>
          </a:ln>
        </p:spPr>
        <p:txBody>
          <a:bodyPr anchorCtr="0" anchor="t" bIns="0" lIns="0" spcFirstLastPara="1" rIns="0" wrap="square" tIns="0">
            <a:spAutoFit/>
          </a:bodyPr>
          <a:lstStyle/>
          <a:p>
            <a:pPr indent="0" lvl="0" marL="0" marR="0" rtl="0" algn="l">
              <a:lnSpc>
                <a:spcPct val="139966"/>
              </a:lnSpc>
              <a:spcBef>
                <a:spcPts val="0"/>
              </a:spcBef>
              <a:spcAft>
                <a:spcPts val="0"/>
              </a:spcAft>
              <a:buNone/>
            </a:pPr>
            <a:r>
              <a:rPr b="1" i="0" lang="en-US" sz="1774" u="none" cap="none" strike="noStrike">
                <a:solidFill>
                  <a:srgbClr val="C3C5C6"/>
                </a:solidFill>
                <a:latin typeface="Poppins"/>
                <a:ea typeface="Poppins"/>
                <a:cs typeface="Poppins"/>
                <a:sym typeface="Poppins"/>
              </a:rPr>
              <a:t>Turn detection into action.</a:t>
            </a:r>
            <a:endParaRPr/>
          </a:p>
          <a:p>
            <a:pPr indent="0" lvl="0" marL="0" marR="0" rtl="0" algn="l">
              <a:lnSpc>
                <a:spcPct val="139966"/>
              </a:lnSpc>
              <a:spcBef>
                <a:spcPts val="0"/>
              </a:spcBef>
              <a:spcAft>
                <a:spcPts val="0"/>
              </a:spcAft>
              <a:buNone/>
            </a:pPr>
            <a:r>
              <a:rPr b="0" i="0" lang="en-US" sz="1774" u="none" cap="none" strike="noStrike">
                <a:solidFill>
                  <a:srgbClr val="C3C5C6"/>
                </a:solidFill>
                <a:latin typeface="Poppins"/>
                <a:ea typeface="Poppins"/>
                <a:cs typeface="Poppins"/>
                <a:sym typeface="Poppins"/>
              </a:rPr>
              <a:t>The result gives businesses a clear next step, helping them respond to suspected impersonation rather than discovering it only after customers have been affected.</a:t>
            </a:r>
            <a:endParaRPr/>
          </a:p>
        </p:txBody>
      </p:sp>
      <p:sp>
        <p:nvSpPr>
          <p:cNvPr id="187" name="Google Shape;187;p19"/>
          <p:cNvSpPr/>
          <p:nvPr/>
        </p:nvSpPr>
        <p:spPr>
          <a:xfrm>
            <a:off x="2605822" y="628120"/>
            <a:ext cx="608093" cy="623976"/>
          </a:xfrm>
          <a:custGeom>
            <a:rect b="b" l="l" r="r" t="t"/>
            <a:pathLst>
              <a:path extrusionOk="0" h="623976" w="608093">
                <a:moveTo>
                  <a:pt x="0" y="0"/>
                </a:moveTo>
                <a:lnTo>
                  <a:pt x="608093" y="0"/>
                </a:lnTo>
                <a:lnTo>
                  <a:pt x="608093" y="623976"/>
                </a:lnTo>
                <a:lnTo>
                  <a:pt x="0" y="623976"/>
                </a:lnTo>
                <a:lnTo>
                  <a:pt x="0" y="0"/>
                </a:lnTo>
                <a:close/>
              </a:path>
            </a:pathLst>
          </a:custGeom>
          <a:blipFill rotWithShape="1">
            <a:blip r:embed="rId6">
              <a:alphaModFix/>
            </a:blip>
            <a:stretch>
              <a:fillRect b="0" l="0" r="0" t="0"/>
            </a:stretch>
          </a:blipFill>
          <a:ln>
            <a:noFill/>
          </a:ln>
        </p:spPr>
      </p:sp>
      <p:sp>
        <p:nvSpPr>
          <p:cNvPr id="188" name="Google Shape;188;p19"/>
          <p:cNvSpPr txBox="1"/>
          <p:nvPr/>
        </p:nvSpPr>
        <p:spPr>
          <a:xfrm>
            <a:off x="4705424" y="561445"/>
            <a:ext cx="3886800" cy="351000"/>
          </a:xfrm>
          <a:prstGeom prst="rect">
            <a:avLst/>
          </a:prstGeom>
          <a:noFill/>
          <a:ln>
            <a:noFill/>
          </a:ln>
        </p:spPr>
        <p:txBody>
          <a:bodyPr anchorCtr="0" anchor="t" bIns="0" lIns="0" spcFirstLastPara="1" rIns="0" wrap="square" tIns="0">
            <a:spAutoFit/>
          </a:bodyPr>
          <a:lstStyle/>
          <a:p>
            <a:pPr indent="0" lvl="0" marL="0" marR="0" rtl="0" algn="l">
              <a:lnSpc>
                <a:spcPct val="140043"/>
              </a:lnSpc>
              <a:spcBef>
                <a:spcPts val="0"/>
              </a:spcBef>
              <a:spcAft>
                <a:spcPts val="0"/>
              </a:spcAft>
              <a:buNone/>
            </a:pPr>
            <a:r>
              <a:rPr b="0" i="0" lang="en-US" sz="2280" u="none" cap="none" strike="noStrike">
                <a:solidFill>
                  <a:srgbClr val="FFFFFF"/>
                </a:solidFill>
                <a:latin typeface="Poppins"/>
                <a:ea typeface="Poppins"/>
                <a:cs typeface="Poppins"/>
                <a:sym typeface="Poppins"/>
              </a:rPr>
              <a:t>COMPOSITE SCORE</a:t>
            </a:r>
            <a:endParaRPr/>
          </a:p>
        </p:txBody>
      </p:sp>
      <p:sp>
        <p:nvSpPr>
          <p:cNvPr id="189" name="Google Shape;189;p19"/>
          <p:cNvSpPr txBox="1"/>
          <p:nvPr/>
        </p:nvSpPr>
        <p:spPr>
          <a:xfrm>
            <a:off x="4705424" y="1108014"/>
            <a:ext cx="3886800" cy="21993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1" i="0" lang="en-US" sz="1520" u="none" cap="none" strike="noStrike">
                <a:solidFill>
                  <a:srgbClr val="C3C5C6"/>
                </a:solidFill>
                <a:latin typeface="Poppins"/>
                <a:ea typeface="Poppins"/>
                <a:cs typeface="Poppins"/>
                <a:sym typeface="Poppins"/>
              </a:rPr>
              <a:t>Combine the signals into a single threat assessment.</a:t>
            </a:r>
            <a:endParaRPr/>
          </a:p>
          <a:p>
            <a:pPr indent="0" lvl="0" marL="0" marR="0" rtl="0" algn="l">
              <a:lnSpc>
                <a:spcPct val="140000"/>
              </a:lnSpc>
              <a:spcBef>
                <a:spcPts val="0"/>
              </a:spcBef>
              <a:spcAft>
                <a:spcPts val="0"/>
              </a:spcAft>
              <a:buNone/>
            </a:pPr>
            <a:r>
              <a:rPr b="0" i="0" lang="en-US" sz="1520" u="none" cap="none" strike="noStrike">
                <a:solidFill>
                  <a:srgbClr val="C3C5C6"/>
                </a:solidFill>
                <a:latin typeface="Poppins"/>
                <a:ea typeface="Poppins"/>
                <a:cs typeface="Poppins"/>
                <a:sym typeface="Poppins"/>
              </a:rPr>
              <a:t>Halisi weighs the different signals and generates an overall score that indicates how likely the account or page is to be impersonating the legitimate business.</a:t>
            </a:r>
            <a:endParaRPr/>
          </a:p>
        </p:txBody>
      </p:sp>
      <p:cxnSp>
        <p:nvCxnSpPr>
          <p:cNvPr id="190" name="Google Shape;190;p19"/>
          <p:cNvCxnSpPr/>
          <p:nvPr/>
        </p:nvCxnSpPr>
        <p:spPr>
          <a:xfrm flipH="1" rot="10800000">
            <a:off x="2857987" y="1514502"/>
            <a:ext cx="2400" cy="1102800"/>
          </a:xfrm>
          <a:prstGeom prst="straightConnector1">
            <a:avLst/>
          </a:prstGeom>
          <a:noFill/>
          <a:ln cap="flat" cmpd="sng" w="9525">
            <a:solidFill>
              <a:srgbClr val="C3C5C6"/>
            </a:solidFill>
            <a:prstDash val="solid"/>
            <a:round/>
            <a:headEnd len="sm" w="sm" type="none"/>
            <a:tailEnd len="sm" w="sm" type="none"/>
          </a:ln>
        </p:spPr>
      </p:cxn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94" name="Shape 194"/>
        <p:cNvGrpSpPr/>
        <p:nvPr/>
      </p:nvGrpSpPr>
      <p:grpSpPr>
        <a:xfrm>
          <a:off x="0" y="0"/>
          <a:ext cx="0" cy="0"/>
          <a:chOff x="0" y="0"/>
          <a:chExt cx="0" cy="0"/>
        </a:xfrm>
      </p:grpSpPr>
      <p:sp>
        <p:nvSpPr>
          <p:cNvPr id="195" name="Google Shape;195;p20"/>
          <p:cNvSpPr/>
          <p:nvPr/>
        </p:nvSpPr>
        <p:spPr>
          <a:xfrm>
            <a:off x="-2169819" y="-2496048"/>
            <a:ext cx="21842778" cy="9261338"/>
          </a:xfrm>
          <a:custGeom>
            <a:rect b="b" l="l" r="r" t="t"/>
            <a:pathLst>
              <a:path extrusionOk="0" h="9261338" w="21842778">
                <a:moveTo>
                  <a:pt x="0" y="0"/>
                </a:moveTo>
                <a:lnTo>
                  <a:pt x="21842778" y="0"/>
                </a:lnTo>
                <a:lnTo>
                  <a:pt x="21842778" y="9261338"/>
                </a:lnTo>
                <a:lnTo>
                  <a:pt x="0" y="9261338"/>
                </a:lnTo>
                <a:lnTo>
                  <a:pt x="0" y="0"/>
                </a:lnTo>
                <a:close/>
              </a:path>
            </a:pathLst>
          </a:custGeom>
          <a:blipFill rotWithShape="1">
            <a:blip r:embed="rId3">
              <a:alphaModFix amt="60000"/>
            </a:blip>
            <a:stretch>
              <a:fillRect b="0" l="0" r="0" t="0"/>
            </a:stretch>
          </a:blipFill>
          <a:ln>
            <a:noFill/>
          </a:ln>
        </p:spPr>
      </p:sp>
      <p:cxnSp>
        <p:nvCxnSpPr>
          <p:cNvPr id="196" name="Google Shape;196;p20"/>
          <p:cNvCxnSpPr/>
          <p:nvPr/>
        </p:nvCxnSpPr>
        <p:spPr>
          <a:xfrm>
            <a:off x="2571750" y="3743501"/>
            <a:ext cx="567898" cy="0"/>
          </a:xfrm>
          <a:prstGeom prst="straightConnector1">
            <a:avLst/>
          </a:prstGeom>
          <a:noFill/>
          <a:ln cap="flat" cmpd="sng" w="38100">
            <a:solidFill>
              <a:srgbClr val="D2B99A"/>
            </a:solidFill>
            <a:prstDash val="solid"/>
            <a:round/>
            <a:headEnd len="sm" w="sm" type="none"/>
            <a:tailEnd len="sm" w="sm" type="none"/>
          </a:ln>
        </p:spPr>
      </p:cxnSp>
      <p:sp>
        <p:nvSpPr>
          <p:cNvPr id="197" name="Google Shape;197;p20"/>
          <p:cNvSpPr/>
          <p:nvPr/>
        </p:nvSpPr>
        <p:spPr>
          <a:xfrm>
            <a:off x="2571750" y="4567002"/>
            <a:ext cx="797933" cy="643808"/>
          </a:xfrm>
          <a:custGeom>
            <a:rect b="b" l="l" r="r" t="t"/>
            <a:pathLst>
              <a:path extrusionOk="0" h="643808" w="797933">
                <a:moveTo>
                  <a:pt x="0" y="0"/>
                </a:moveTo>
                <a:lnTo>
                  <a:pt x="797933" y="0"/>
                </a:lnTo>
                <a:lnTo>
                  <a:pt x="797933" y="643808"/>
                </a:lnTo>
                <a:lnTo>
                  <a:pt x="0" y="643808"/>
                </a:lnTo>
                <a:lnTo>
                  <a:pt x="0" y="0"/>
                </a:lnTo>
                <a:close/>
              </a:path>
            </a:pathLst>
          </a:custGeom>
          <a:blipFill rotWithShape="1">
            <a:blip r:embed="rId4">
              <a:alphaModFix/>
            </a:blip>
            <a:stretch>
              <a:fillRect b="0" l="0" r="0" t="0"/>
            </a:stretch>
          </a:blipFill>
          <a:ln>
            <a:noFill/>
          </a:ln>
        </p:spPr>
      </p:sp>
      <p:sp>
        <p:nvSpPr>
          <p:cNvPr id="198" name="Google Shape;198;p20"/>
          <p:cNvSpPr/>
          <p:nvPr/>
        </p:nvSpPr>
        <p:spPr>
          <a:xfrm>
            <a:off x="7176135" y="4567002"/>
            <a:ext cx="747034" cy="643808"/>
          </a:xfrm>
          <a:custGeom>
            <a:rect b="b" l="l" r="r" t="t"/>
            <a:pathLst>
              <a:path extrusionOk="0" h="643808" w="747034">
                <a:moveTo>
                  <a:pt x="0" y="0"/>
                </a:moveTo>
                <a:lnTo>
                  <a:pt x="747034" y="0"/>
                </a:lnTo>
                <a:lnTo>
                  <a:pt x="747034" y="643808"/>
                </a:lnTo>
                <a:lnTo>
                  <a:pt x="0" y="643808"/>
                </a:lnTo>
                <a:lnTo>
                  <a:pt x="0" y="0"/>
                </a:lnTo>
                <a:close/>
              </a:path>
            </a:pathLst>
          </a:custGeom>
          <a:blipFill rotWithShape="1">
            <a:blip r:embed="rId5">
              <a:alphaModFix/>
            </a:blip>
            <a:stretch>
              <a:fillRect b="0" l="0" r="0" t="0"/>
            </a:stretch>
          </a:blipFill>
          <a:ln>
            <a:noFill/>
          </a:ln>
        </p:spPr>
      </p:sp>
      <p:sp>
        <p:nvSpPr>
          <p:cNvPr id="199" name="Google Shape;199;p20"/>
          <p:cNvSpPr/>
          <p:nvPr/>
        </p:nvSpPr>
        <p:spPr>
          <a:xfrm>
            <a:off x="11778615" y="4567002"/>
            <a:ext cx="804706" cy="643808"/>
          </a:xfrm>
          <a:custGeom>
            <a:rect b="b" l="l" r="r" t="t"/>
            <a:pathLst>
              <a:path extrusionOk="0" h="643808" w="804706">
                <a:moveTo>
                  <a:pt x="0" y="0"/>
                </a:moveTo>
                <a:lnTo>
                  <a:pt x="804706" y="0"/>
                </a:lnTo>
                <a:lnTo>
                  <a:pt x="804706" y="643808"/>
                </a:lnTo>
                <a:lnTo>
                  <a:pt x="0" y="643808"/>
                </a:lnTo>
                <a:lnTo>
                  <a:pt x="0" y="0"/>
                </a:lnTo>
                <a:close/>
              </a:path>
            </a:pathLst>
          </a:custGeom>
          <a:blipFill rotWithShape="1">
            <a:blip r:embed="rId6">
              <a:alphaModFix/>
            </a:blip>
            <a:stretch>
              <a:fillRect b="0" l="0" r="0" t="0"/>
            </a:stretch>
          </a:blipFill>
          <a:ln>
            <a:noFill/>
          </a:ln>
        </p:spPr>
      </p:sp>
      <p:sp>
        <p:nvSpPr>
          <p:cNvPr id="200" name="Google Shape;200;p20"/>
          <p:cNvSpPr txBox="1"/>
          <p:nvPr/>
        </p:nvSpPr>
        <p:spPr>
          <a:xfrm>
            <a:off x="2571750" y="1953382"/>
            <a:ext cx="5340183" cy="150431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5600" u="none" cap="none" strike="noStrike">
                <a:solidFill>
                  <a:srgbClr val="FFFFFF"/>
                </a:solidFill>
                <a:latin typeface="Poppins Light"/>
                <a:ea typeface="Poppins Light"/>
                <a:cs typeface="Poppins Light"/>
                <a:sym typeface="Poppins Light"/>
              </a:rPr>
              <a:t>WHO’S HALISI FOR?</a:t>
            </a:r>
            <a:endParaRPr/>
          </a:p>
        </p:txBody>
      </p:sp>
      <p:sp>
        <p:nvSpPr>
          <p:cNvPr id="201" name="Google Shape;201;p20"/>
          <p:cNvSpPr txBox="1"/>
          <p:nvPr/>
        </p:nvSpPr>
        <p:spPr>
          <a:xfrm>
            <a:off x="2571750" y="5473432"/>
            <a:ext cx="3937500" cy="3231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2100" u="none" cap="none" strike="noStrike">
                <a:solidFill>
                  <a:srgbClr val="FFFFFF"/>
                </a:solidFill>
                <a:latin typeface="Poppins"/>
                <a:ea typeface="Poppins"/>
                <a:cs typeface="Poppins"/>
                <a:sym typeface="Poppins"/>
              </a:rPr>
              <a:t>Kenyan Merchants</a:t>
            </a:r>
            <a:endParaRPr/>
          </a:p>
        </p:txBody>
      </p:sp>
      <p:sp>
        <p:nvSpPr>
          <p:cNvPr id="202" name="Google Shape;202;p20"/>
          <p:cNvSpPr txBox="1"/>
          <p:nvPr/>
        </p:nvSpPr>
        <p:spPr>
          <a:xfrm>
            <a:off x="7176135" y="5473432"/>
            <a:ext cx="3937500" cy="3231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2100" u="none" cap="none" strike="noStrike">
                <a:solidFill>
                  <a:srgbClr val="FFFFFF"/>
                </a:solidFill>
                <a:latin typeface="Poppins"/>
                <a:ea typeface="Poppins"/>
                <a:cs typeface="Poppins"/>
                <a:sym typeface="Poppins"/>
              </a:rPr>
              <a:t>Everyday Buyers</a:t>
            </a:r>
            <a:endParaRPr/>
          </a:p>
        </p:txBody>
      </p:sp>
      <p:sp>
        <p:nvSpPr>
          <p:cNvPr id="203" name="Google Shape;203;p20"/>
          <p:cNvSpPr txBox="1"/>
          <p:nvPr/>
        </p:nvSpPr>
        <p:spPr>
          <a:xfrm>
            <a:off x="11778615" y="5287695"/>
            <a:ext cx="3937500" cy="12282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US" sz="2100" u="none" cap="none" strike="noStrike">
                <a:solidFill>
                  <a:srgbClr val="FFFFFF"/>
                </a:solidFill>
                <a:latin typeface="Poppins"/>
                <a:ea typeface="Poppins"/>
                <a:cs typeface="Poppins"/>
                <a:sym typeface="Poppins"/>
              </a:rPr>
              <a:t>Platforms and consumer-protection responders</a:t>
            </a:r>
            <a:endParaRPr/>
          </a:p>
        </p:txBody>
      </p:sp>
      <p:sp>
        <p:nvSpPr>
          <p:cNvPr id="204" name="Google Shape;204;p20"/>
          <p:cNvSpPr txBox="1"/>
          <p:nvPr/>
        </p:nvSpPr>
        <p:spPr>
          <a:xfrm>
            <a:off x="2571750" y="6717665"/>
            <a:ext cx="3937635" cy="1940560"/>
          </a:xfrm>
          <a:prstGeom prst="rect">
            <a:avLst/>
          </a:prstGeom>
          <a:noFill/>
          <a:ln>
            <a:noFill/>
          </a:ln>
        </p:spPr>
        <p:txBody>
          <a:bodyPr anchorCtr="0" anchor="t" bIns="0" lIns="0" spcFirstLastPara="1" rIns="0" wrap="square" tIns="0">
            <a:spAutoFit/>
          </a:bodyPr>
          <a:lstStyle/>
          <a:p>
            <a:pPr indent="0" lvl="0" marL="0" marR="0" rtl="0" algn="l">
              <a:lnSpc>
                <a:spcPct val="140025"/>
              </a:lnSpc>
              <a:spcBef>
                <a:spcPts val="0"/>
              </a:spcBef>
              <a:spcAft>
                <a:spcPts val="0"/>
              </a:spcAft>
              <a:buNone/>
            </a:pPr>
            <a:r>
              <a:rPr b="0" i="0" lang="en-US" sz="1599" u="none" cap="none" strike="noStrike">
                <a:solidFill>
                  <a:srgbClr val="C3C5C6"/>
                </a:solidFill>
                <a:latin typeface="Poppins Light"/>
                <a:ea typeface="Poppins Light"/>
                <a:cs typeface="Poppins Light"/>
                <a:sym typeface="Poppins Light"/>
              </a:rPr>
              <a:t>Small businesses selling on Instagram, Facebook and TikTok who get cloned — a fake page copies their logo, undercuts on price, and collects payment on a different Till or number. Halisi flags the clone and tells them what to do next.</a:t>
            </a:r>
            <a:endParaRPr/>
          </a:p>
        </p:txBody>
      </p:sp>
      <p:sp>
        <p:nvSpPr>
          <p:cNvPr id="205" name="Google Shape;205;p20"/>
          <p:cNvSpPr txBox="1"/>
          <p:nvPr/>
        </p:nvSpPr>
        <p:spPr>
          <a:xfrm>
            <a:off x="7176135" y="6717665"/>
            <a:ext cx="3937635" cy="1388110"/>
          </a:xfrm>
          <a:prstGeom prst="rect">
            <a:avLst/>
          </a:prstGeom>
          <a:noFill/>
          <a:ln>
            <a:noFill/>
          </a:ln>
        </p:spPr>
        <p:txBody>
          <a:bodyPr anchorCtr="0" anchor="t" bIns="0" lIns="0" spcFirstLastPara="1" rIns="0" wrap="square" tIns="0">
            <a:spAutoFit/>
          </a:bodyPr>
          <a:lstStyle/>
          <a:p>
            <a:pPr indent="0" lvl="0" marL="0" marR="0" rtl="0" algn="l">
              <a:lnSpc>
                <a:spcPct val="140025"/>
              </a:lnSpc>
              <a:spcBef>
                <a:spcPts val="0"/>
              </a:spcBef>
              <a:spcAft>
                <a:spcPts val="0"/>
              </a:spcAft>
              <a:buNone/>
            </a:pPr>
            <a:r>
              <a:rPr b="0" i="0" lang="en-US" sz="1599" u="none" cap="none" strike="noStrike">
                <a:solidFill>
                  <a:srgbClr val="C3C5C6"/>
                </a:solidFill>
                <a:latin typeface="Poppins Light"/>
                <a:ea typeface="Poppins Light"/>
                <a:cs typeface="Poppins Light"/>
                <a:sym typeface="Poppins Light"/>
              </a:rPr>
              <a:t>Shoppers can't tell a real seller's page from a lookalike before they pay. Halisi lets them check a handle, Till, or Paybill before sending money.</a:t>
            </a:r>
            <a:endParaRPr/>
          </a:p>
          <a:p>
            <a:pPr indent="0" lvl="0" marL="0" marR="0" rtl="0" algn="l">
              <a:lnSpc>
                <a:spcPct val="140025"/>
              </a:lnSpc>
              <a:spcBef>
                <a:spcPts val="0"/>
              </a:spcBef>
              <a:spcAft>
                <a:spcPts val="0"/>
              </a:spcAft>
              <a:buNone/>
            </a:pPr>
            <a:r>
              <a:t/>
            </a:r>
            <a:endParaRPr b="0" i="0" sz="1599" u="none" cap="none" strike="noStrike">
              <a:solidFill>
                <a:srgbClr val="C3C5C6"/>
              </a:solidFill>
              <a:latin typeface="Poppins Light"/>
              <a:ea typeface="Poppins Light"/>
              <a:cs typeface="Poppins Light"/>
              <a:sym typeface="Poppins Light"/>
            </a:endParaRPr>
          </a:p>
        </p:txBody>
      </p:sp>
      <p:sp>
        <p:nvSpPr>
          <p:cNvPr id="206" name="Google Shape;206;p20"/>
          <p:cNvSpPr txBox="1"/>
          <p:nvPr/>
        </p:nvSpPr>
        <p:spPr>
          <a:xfrm>
            <a:off x="11778615" y="6717665"/>
            <a:ext cx="3937635" cy="1664335"/>
          </a:xfrm>
          <a:prstGeom prst="rect">
            <a:avLst/>
          </a:prstGeom>
          <a:noFill/>
          <a:ln>
            <a:noFill/>
          </a:ln>
        </p:spPr>
        <p:txBody>
          <a:bodyPr anchorCtr="0" anchor="t" bIns="0" lIns="0" spcFirstLastPara="1" rIns="0" wrap="square" tIns="0">
            <a:spAutoFit/>
          </a:bodyPr>
          <a:lstStyle/>
          <a:p>
            <a:pPr indent="0" lvl="0" marL="0" marR="0" rtl="0" algn="l">
              <a:lnSpc>
                <a:spcPct val="140025"/>
              </a:lnSpc>
              <a:spcBef>
                <a:spcPts val="0"/>
              </a:spcBef>
              <a:spcAft>
                <a:spcPts val="0"/>
              </a:spcAft>
              <a:buNone/>
            </a:pPr>
            <a:r>
              <a:rPr b="0" i="0" lang="en-US" sz="1599" u="none" cap="none" strike="noStrike">
                <a:solidFill>
                  <a:srgbClr val="C3C5C6"/>
                </a:solidFill>
                <a:latin typeface="Poppins Light"/>
                <a:ea typeface="Poppins Light"/>
                <a:cs typeface="Poppins Light"/>
                <a:sym typeface="Poppins Light"/>
              </a:rPr>
              <a:t>Instagram, Facebook and TikTok trust-and-safety teams, plus bodies like KE-CIRT/CC, need evidence to act on impersonation reports — not just a complaint, but a hash match, a scored comparison, and a paper trail.</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10" name="Shape 210"/>
        <p:cNvGrpSpPr/>
        <p:nvPr/>
      </p:nvGrpSpPr>
      <p:grpSpPr>
        <a:xfrm>
          <a:off x="0" y="0"/>
          <a:ext cx="0" cy="0"/>
          <a:chOff x="0" y="0"/>
          <a:chExt cx="0" cy="0"/>
        </a:xfrm>
      </p:grpSpPr>
      <p:sp>
        <p:nvSpPr>
          <p:cNvPr id="211" name="Google Shape;211;p21"/>
          <p:cNvSpPr/>
          <p:nvPr/>
        </p:nvSpPr>
        <p:spPr>
          <a:xfrm>
            <a:off x="-5458246" y="-1743787"/>
            <a:ext cx="20814942" cy="8825535"/>
          </a:xfrm>
          <a:custGeom>
            <a:rect b="b" l="l" r="r" t="t"/>
            <a:pathLst>
              <a:path extrusionOk="0" h="8825535" w="20814942">
                <a:moveTo>
                  <a:pt x="0" y="0"/>
                </a:moveTo>
                <a:lnTo>
                  <a:pt x="20814942" y="0"/>
                </a:lnTo>
                <a:lnTo>
                  <a:pt x="20814942" y="8825536"/>
                </a:lnTo>
                <a:lnTo>
                  <a:pt x="0" y="8825536"/>
                </a:lnTo>
                <a:lnTo>
                  <a:pt x="0" y="0"/>
                </a:lnTo>
                <a:close/>
              </a:path>
            </a:pathLst>
          </a:custGeom>
          <a:blipFill rotWithShape="1">
            <a:blip r:embed="rId3">
              <a:alphaModFix amt="60000"/>
            </a:blip>
            <a:stretch>
              <a:fillRect b="0" l="0" r="0" t="0"/>
            </a:stretch>
          </a:blipFill>
          <a:ln>
            <a:noFill/>
          </a:ln>
        </p:spPr>
      </p:sp>
      <p:cxnSp>
        <p:nvCxnSpPr>
          <p:cNvPr id="212" name="Google Shape;212;p21"/>
          <p:cNvCxnSpPr/>
          <p:nvPr/>
        </p:nvCxnSpPr>
        <p:spPr>
          <a:xfrm>
            <a:off x="2571750" y="2866444"/>
            <a:ext cx="567898" cy="0"/>
          </a:xfrm>
          <a:prstGeom prst="straightConnector1">
            <a:avLst/>
          </a:prstGeom>
          <a:noFill/>
          <a:ln cap="flat" cmpd="sng" w="38100">
            <a:solidFill>
              <a:srgbClr val="D2B99A"/>
            </a:solidFill>
            <a:prstDash val="solid"/>
            <a:round/>
            <a:headEnd len="sm" w="sm" type="none"/>
            <a:tailEnd len="sm" w="sm" type="none"/>
          </a:ln>
        </p:spPr>
      </p:cxnSp>
      <p:sp>
        <p:nvSpPr>
          <p:cNvPr id="213" name="Google Shape;213;p21"/>
          <p:cNvSpPr txBox="1"/>
          <p:nvPr/>
        </p:nvSpPr>
        <p:spPr>
          <a:xfrm>
            <a:off x="2571750" y="1952625"/>
            <a:ext cx="5905500" cy="7994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5600" u="none" cap="none" strike="noStrike">
                <a:solidFill>
                  <a:srgbClr val="FFFFFF"/>
                </a:solidFill>
                <a:latin typeface="Poppins Light"/>
                <a:ea typeface="Poppins Light"/>
                <a:cs typeface="Poppins Light"/>
                <a:sym typeface="Poppins Light"/>
              </a:rPr>
              <a:t>THE TEAM</a:t>
            </a:r>
            <a:endParaRPr/>
          </a:p>
        </p:txBody>
      </p:sp>
      <p:sp>
        <p:nvSpPr>
          <p:cNvPr id="214" name="Google Shape;214;p21"/>
          <p:cNvSpPr txBox="1"/>
          <p:nvPr/>
        </p:nvSpPr>
        <p:spPr>
          <a:xfrm>
            <a:off x="3973104" y="3220212"/>
            <a:ext cx="4744432" cy="545333"/>
          </a:xfrm>
          <a:prstGeom prst="rect">
            <a:avLst/>
          </a:prstGeom>
          <a:noFill/>
          <a:ln>
            <a:noFill/>
          </a:ln>
        </p:spPr>
        <p:txBody>
          <a:bodyPr anchorCtr="0" anchor="t" bIns="0" lIns="0" spcFirstLastPara="1" rIns="0" wrap="square" tIns="0">
            <a:spAutoFit/>
          </a:bodyPr>
          <a:lstStyle/>
          <a:p>
            <a:pPr indent="0" lvl="0" marL="0" marR="0" rtl="0" algn="l">
              <a:lnSpc>
                <a:spcPct val="139986"/>
              </a:lnSpc>
              <a:spcBef>
                <a:spcPts val="0"/>
              </a:spcBef>
              <a:spcAft>
                <a:spcPts val="0"/>
              </a:spcAft>
              <a:buNone/>
            </a:pPr>
            <a:r>
              <a:rPr b="0" i="0" lang="en-US" sz="3016" u="none" cap="none" strike="noStrike">
                <a:solidFill>
                  <a:srgbClr val="FFFFFF"/>
                </a:solidFill>
                <a:latin typeface="Poppins"/>
                <a:ea typeface="Poppins"/>
                <a:cs typeface="Poppins"/>
                <a:sym typeface="Poppins"/>
              </a:rPr>
              <a:t>Siganga Ndegwa</a:t>
            </a:r>
            <a:endParaRPr/>
          </a:p>
        </p:txBody>
      </p:sp>
      <p:sp>
        <p:nvSpPr>
          <p:cNvPr id="215" name="Google Shape;215;p21"/>
          <p:cNvSpPr txBox="1"/>
          <p:nvPr/>
        </p:nvSpPr>
        <p:spPr>
          <a:xfrm>
            <a:off x="3973104" y="3772339"/>
            <a:ext cx="4744432" cy="933805"/>
          </a:xfrm>
          <a:prstGeom prst="rect">
            <a:avLst/>
          </a:prstGeom>
          <a:noFill/>
          <a:ln>
            <a:noFill/>
          </a:ln>
        </p:spPr>
        <p:txBody>
          <a:bodyPr anchorCtr="0" anchor="t" bIns="0" lIns="0" spcFirstLastPara="1" rIns="0" wrap="square" tIns="0">
            <a:spAutoFit/>
          </a:bodyPr>
          <a:lstStyle/>
          <a:p>
            <a:pPr indent="0" lvl="0" marL="0" marR="0" rtl="0" algn="l">
              <a:lnSpc>
                <a:spcPct val="139985"/>
              </a:lnSpc>
              <a:spcBef>
                <a:spcPts val="0"/>
              </a:spcBef>
              <a:spcAft>
                <a:spcPts val="0"/>
              </a:spcAft>
              <a:buNone/>
            </a:pPr>
            <a:r>
              <a:rPr b="0" i="0" lang="en-US" sz="2681" u="none" cap="none" strike="noStrike">
                <a:solidFill>
                  <a:srgbClr val="C3C5C6"/>
                </a:solidFill>
                <a:latin typeface="Poppins Light"/>
                <a:ea typeface="Poppins Light"/>
                <a:cs typeface="Poppins Light"/>
                <a:sym typeface="Poppins Light"/>
              </a:rPr>
              <a:t>Frontend Application &amp; Experience</a:t>
            </a:r>
            <a:endParaRPr/>
          </a:p>
        </p:txBody>
      </p:sp>
      <p:sp>
        <p:nvSpPr>
          <p:cNvPr id="216" name="Google Shape;216;p21"/>
          <p:cNvSpPr txBox="1"/>
          <p:nvPr/>
        </p:nvSpPr>
        <p:spPr>
          <a:xfrm>
            <a:off x="2651845" y="3107098"/>
            <a:ext cx="1321259" cy="816455"/>
          </a:xfrm>
          <a:prstGeom prst="rect">
            <a:avLst/>
          </a:prstGeom>
          <a:noFill/>
          <a:ln>
            <a:noFill/>
          </a:ln>
        </p:spPr>
        <p:txBody>
          <a:bodyPr anchorCtr="0" anchor="t" bIns="0" lIns="0" spcFirstLastPara="1" rIns="0" wrap="square" tIns="0">
            <a:spAutoFit/>
          </a:bodyPr>
          <a:lstStyle/>
          <a:p>
            <a:pPr indent="0" lvl="0" marL="0" marR="0" rtl="0" algn="l">
              <a:lnSpc>
                <a:spcPct val="139986"/>
              </a:lnSpc>
              <a:spcBef>
                <a:spcPts val="0"/>
              </a:spcBef>
              <a:spcAft>
                <a:spcPts val="0"/>
              </a:spcAft>
              <a:buNone/>
            </a:pPr>
            <a:r>
              <a:rPr b="0" i="0" lang="en-US" sz="4524" u="none" cap="none" strike="noStrike">
                <a:solidFill>
                  <a:srgbClr val="FFFFFF"/>
                </a:solidFill>
                <a:latin typeface="Poppins Light"/>
                <a:ea typeface="Poppins Light"/>
                <a:cs typeface="Poppins Light"/>
                <a:sym typeface="Poppins Light"/>
              </a:rPr>
              <a:t>01</a:t>
            </a:r>
            <a:endParaRPr/>
          </a:p>
        </p:txBody>
      </p:sp>
      <p:sp>
        <p:nvSpPr>
          <p:cNvPr id="217" name="Google Shape;217;p21"/>
          <p:cNvSpPr txBox="1"/>
          <p:nvPr/>
        </p:nvSpPr>
        <p:spPr>
          <a:xfrm>
            <a:off x="11715461" y="4094924"/>
            <a:ext cx="4744432" cy="545333"/>
          </a:xfrm>
          <a:prstGeom prst="rect">
            <a:avLst/>
          </a:prstGeom>
          <a:noFill/>
          <a:ln>
            <a:noFill/>
          </a:ln>
        </p:spPr>
        <p:txBody>
          <a:bodyPr anchorCtr="0" anchor="t" bIns="0" lIns="0" spcFirstLastPara="1" rIns="0" wrap="square" tIns="0">
            <a:spAutoFit/>
          </a:bodyPr>
          <a:lstStyle/>
          <a:p>
            <a:pPr indent="0" lvl="0" marL="0" marR="0" rtl="0" algn="l">
              <a:lnSpc>
                <a:spcPct val="139986"/>
              </a:lnSpc>
              <a:spcBef>
                <a:spcPts val="0"/>
              </a:spcBef>
              <a:spcAft>
                <a:spcPts val="0"/>
              </a:spcAft>
              <a:buNone/>
            </a:pPr>
            <a:r>
              <a:rPr b="0" i="0" lang="en-US" sz="3016" u="none" cap="none" strike="noStrike">
                <a:solidFill>
                  <a:srgbClr val="FFFFFF"/>
                </a:solidFill>
                <a:latin typeface="Poppins"/>
                <a:ea typeface="Poppins"/>
                <a:cs typeface="Poppins"/>
                <a:sym typeface="Poppins"/>
              </a:rPr>
              <a:t>Collins Kimanzi</a:t>
            </a:r>
            <a:endParaRPr/>
          </a:p>
        </p:txBody>
      </p:sp>
      <p:sp>
        <p:nvSpPr>
          <p:cNvPr id="218" name="Google Shape;218;p21"/>
          <p:cNvSpPr txBox="1"/>
          <p:nvPr/>
        </p:nvSpPr>
        <p:spPr>
          <a:xfrm>
            <a:off x="11715461" y="4647051"/>
            <a:ext cx="4744432" cy="1396656"/>
          </a:xfrm>
          <a:prstGeom prst="rect">
            <a:avLst/>
          </a:prstGeom>
          <a:noFill/>
          <a:ln>
            <a:noFill/>
          </a:ln>
        </p:spPr>
        <p:txBody>
          <a:bodyPr anchorCtr="0" anchor="t" bIns="0" lIns="0" spcFirstLastPara="1" rIns="0" wrap="square" tIns="0">
            <a:spAutoFit/>
          </a:bodyPr>
          <a:lstStyle/>
          <a:p>
            <a:pPr indent="0" lvl="0" marL="0" marR="0" rtl="0" algn="l">
              <a:lnSpc>
                <a:spcPct val="139985"/>
              </a:lnSpc>
              <a:spcBef>
                <a:spcPts val="0"/>
              </a:spcBef>
              <a:spcAft>
                <a:spcPts val="0"/>
              </a:spcAft>
              <a:buNone/>
            </a:pPr>
            <a:r>
              <a:rPr b="0" i="0" lang="en-US" sz="2681" u="none" cap="none" strike="noStrike">
                <a:solidFill>
                  <a:srgbClr val="C3C5C6"/>
                </a:solidFill>
                <a:latin typeface="Poppins Light"/>
                <a:ea typeface="Poppins Light"/>
                <a:cs typeface="Poppins Light"/>
                <a:sym typeface="Poppins Light"/>
              </a:rPr>
              <a:t>Lead, Detection Engine, AI Remediation &amp; Design Direction</a:t>
            </a:r>
            <a:endParaRPr/>
          </a:p>
        </p:txBody>
      </p:sp>
      <p:sp>
        <p:nvSpPr>
          <p:cNvPr id="219" name="Google Shape;219;p21"/>
          <p:cNvSpPr txBox="1"/>
          <p:nvPr/>
        </p:nvSpPr>
        <p:spPr>
          <a:xfrm>
            <a:off x="10394202" y="3981811"/>
            <a:ext cx="1321259" cy="816455"/>
          </a:xfrm>
          <a:prstGeom prst="rect">
            <a:avLst/>
          </a:prstGeom>
          <a:noFill/>
          <a:ln>
            <a:noFill/>
          </a:ln>
        </p:spPr>
        <p:txBody>
          <a:bodyPr anchorCtr="0" anchor="t" bIns="0" lIns="0" spcFirstLastPara="1" rIns="0" wrap="square" tIns="0">
            <a:spAutoFit/>
          </a:bodyPr>
          <a:lstStyle/>
          <a:p>
            <a:pPr indent="0" lvl="0" marL="0" marR="0" rtl="0" algn="l">
              <a:lnSpc>
                <a:spcPct val="139986"/>
              </a:lnSpc>
              <a:spcBef>
                <a:spcPts val="0"/>
              </a:spcBef>
              <a:spcAft>
                <a:spcPts val="0"/>
              </a:spcAft>
              <a:buNone/>
            </a:pPr>
            <a:r>
              <a:rPr b="0" i="0" lang="en-US" sz="4524" u="none" cap="none" strike="noStrike">
                <a:solidFill>
                  <a:srgbClr val="FFFFFF"/>
                </a:solidFill>
                <a:latin typeface="Poppins Light"/>
                <a:ea typeface="Poppins Light"/>
                <a:cs typeface="Poppins Light"/>
                <a:sym typeface="Poppins Light"/>
              </a:rPr>
              <a:t>02</a:t>
            </a:r>
            <a:endParaRPr/>
          </a:p>
        </p:txBody>
      </p:sp>
      <p:sp>
        <p:nvSpPr>
          <p:cNvPr id="220" name="Google Shape;220;p21"/>
          <p:cNvSpPr txBox="1"/>
          <p:nvPr/>
        </p:nvSpPr>
        <p:spPr>
          <a:xfrm>
            <a:off x="3893009" y="5560620"/>
            <a:ext cx="4744432" cy="545333"/>
          </a:xfrm>
          <a:prstGeom prst="rect">
            <a:avLst/>
          </a:prstGeom>
          <a:noFill/>
          <a:ln>
            <a:noFill/>
          </a:ln>
        </p:spPr>
        <p:txBody>
          <a:bodyPr anchorCtr="0" anchor="t" bIns="0" lIns="0" spcFirstLastPara="1" rIns="0" wrap="square" tIns="0">
            <a:spAutoFit/>
          </a:bodyPr>
          <a:lstStyle/>
          <a:p>
            <a:pPr indent="0" lvl="0" marL="0" marR="0" rtl="0" algn="l">
              <a:lnSpc>
                <a:spcPct val="139986"/>
              </a:lnSpc>
              <a:spcBef>
                <a:spcPts val="0"/>
              </a:spcBef>
              <a:spcAft>
                <a:spcPts val="0"/>
              </a:spcAft>
              <a:buNone/>
            </a:pPr>
            <a:r>
              <a:rPr b="0" i="0" lang="en-US" sz="3016" u="none" cap="none" strike="noStrike">
                <a:solidFill>
                  <a:srgbClr val="FFFFFF"/>
                </a:solidFill>
                <a:latin typeface="Poppins"/>
                <a:ea typeface="Poppins"/>
                <a:cs typeface="Poppins"/>
                <a:sym typeface="Poppins"/>
              </a:rPr>
              <a:t>Geoffery Obwocha</a:t>
            </a:r>
            <a:endParaRPr/>
          </a:p>
        </p:txBody>
      </p:sp>
      <p:sp>
        <p:nvSpPr>
          <p:cNvPr id="221" name="Google Shape;221;p21"/>
          <p:cNvSpPr txBox="1"/>
          <p:nvPr/>
        </p:nvSpPr>
        <p:spPr>
          <a:xfrm>
            <a:off x="3893009" y="6112747"/>
            <a:ext cx="4744432" cy="933805"/>
          </a:xfrm>
          <a:prstGeom prst="rect">
            <a:avLst/>
          </a:prstGeom>
          <a:noFill/>
          <a:ln>
            <a:noFill/>
          </a:ln>
        </p:spPr>
        <p:txBody>
          <a:bodyPr anchorCtr="0" anchor="t" bIns="0" lIns="0" spcFirstLastPara="1" rIns="0" wrap="square" tIns="0">
            <a:spAutoFit/>
          </a:bodyPr>
          <a:lstStyle/>
          <a:p>
            <a:pPr indent="0" lvl="0" marL="0" marR="0" rtl="0" algn="l">
              <a:lnSpc>
                <a:spcPct val="139985"/>
              </a:lnSpc>
              <a:spcBef>
                <a:spcPts val="0"/>
              </a:spcBef>
              <a:spcAft>
                <a:spcPts val="0"/>
              </a:spcAft>
              <a:buNone/>
            </a:pPr>
            <a:r>
              <a:rPr b="0" i="0" lang="en-US" sz="2681" u="none" cap="none" strike="noStrike">
                <a:solidFill>
                  <a:srgbClr val="C3C5C6"/>
                </a:solidFill>
                <a:latin typeface="Poppins Light"/>
                <a:ea typeface="Poppins Light"/>
                <a:cs typeface="Poppins Light"/>
                <a:sym typeface="Poppins Light"/>
              </a:rPr>
              <a:t>backend API, Data Ingeston &amp; Alerts</a:t>
            </a:r>
            <a:endParaRPr/>
          </a:p>
        </p:txBody>
      </p:sp>
      <p:sp>
        <p:nvSpPr>
          <p:cNvPr id="222" name="Google Shape;222;p21"/>
          <p:cNvSpPr txBox="1"/>
          <p:nvPr/>
        </p:nvSpPr>
        <p:spPr>
          <a:xfrm>
            <a:off x="2571750" y="5447506"/>
            <a:ext cx="1321259" cy="816455"/>
          </a:xfrm>
          <a:prstGeom prst="rect">
            <a:avLst/>
          </a:prstGeom>
          <a:noFill/>
          <a:ln>
            <a:noFill/>
          </a:ln>
        </p:spPr>
        <p:txBody>
          <a:bodyPr anchorCtr="0" anchor="t" bIns="0" lIns="0" spcFirstLastPara="1" rIns="0" wrap="square" tIns="0">
            <a:spAutoFit/>
          </a:bodyPr>
          <a:lstStyle/>
          <a:p>
            <a:pPr indent="0" lvl="0" marL="0" marR="0" rtl="0" algn="l">
              <a:lnSpc>
                <a:spcPct val="139986"/>
              </a:lnSpc>
              <a:spcBef>
                <a:spcPts val="0"/>
              </a:spcBef>
              <a:spcAft>
                <a:spcPts val="0"/>
              </a:spcAft>
              <a:buNone/>
            </a:pPr>
            <a:r>
              <a:rPr b="0" i="0" lang="en-US" sz="4524" u="none" cap="none" strike="noStrike">
                <a:solidFill>
                  <a:srgbClr val="FFFFFF"/>
                </a:solidFill>
                <a:latin typeface="Poppins Light"/>
                <a:ea typeface="Poppins Light"/>
                <a:cs typeface="Poppins Light"/>
                <a:sym typeface="Poppins Light"/>
              </a:rPr>
              <a:t>03</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6" name="Shape 226"/>
        <p:cNvGrpSpPr/>
        <p:nvPr/>
      </p:nvGrpSpPr>
      <p:grpSpPr>
        <a:xfrm>
          <a:off x="0" y="0"/>
          <a:ext cx="0" cy="0"/>
          <a:chOff x="0" y="0"/>
          <a:chExt cx="0" cy="0"/>
        </a:xfrm>
      </p:grpSpPr>
      <p:sp>
        <p:nvSpPr>
          <p:cNvPr id="227" name="Google Shape;227;p22"/>
          <p:cNvSpPr/>
          <p:nvPr/>
        </p:nvSpPr>
        <p:spPr>
          <a:xfrm flipH="1">
            <a:off x="-11004897" y="-1736871"/>
            <a:ext cx="18601707" cy="7887124"/>
          </a:xfrm>
          <a:custGeom>
            <a:rect b="b" l="l" r="r" t="t"/>
            <a:pathLst>
              <a:path extrusionOk="0" h="7887124" w="18601707">
                <a:moveTo>
                  <a:pt x="18601707" y="0"/>
                </a:moveTo>
                <a:lnTo>
                  <a:pt x="0" y="0"/>
                </a:lnTo>
                <a:lnTo>
                  <a:pt x="0" y="7887123"/>
                </a:lnTo>
                <a:lnTo>
                  <a:pt x="18601707" y="7887123"/>
                </a:lnTo>
                <a:lnTo>
                  <a:pt x="18601707" y="0"/>
                </a:lnTo>
                <a:close/>
              </a:path>
            </a:pathLst>
          </a:custGeom>
          <a:blipFill rotWithShape="1">
            <a:blip r:embed="rId3">
              <a:alphaModFix amt="60000"/>
            </a:blip>
            <a:stretch>
              <a:fillRect b="0" l="0" r="0" t="0"/>
            </a:stretch>
          </a:blipFill>
          <a:ln>
            <a:noFill/>
          </a:ln>
        </p:spPr>
      </p:sp>
      <p:cxnSp>
        <p:nvCxnSpPr>
          <p:cNvPr id="228" name="Google Shape;228;p22"/>
          <p:cNvCxnSpPr/>
          <p:nvPr/>
        </p:nvCxnSpPr>
        <p:spPr>
          <a:xfrm>
            <a:off x="2571750" y="4904809"/>
            <a:ext cx="567898" cy="0"/>
          </a:xfrm>
          <a:prstGeom prst="straightConnector1">
            <a:avLst/>
          </a:prstGeom>
          <a:noFill/>
          <a:ln cap="flat" cmpd="sng" w="38100">
            <a:solidFill>
              <a:srgbClr val="D2B99A"/>
            </a:solidFill>
            <a:prstDash val="solid"/>
            <a:round/>
            <a:headEnd len="sm" w="sm" type="none"/>
            <a:tailEnd len="sm" w="sm" type="none"/>
          </a:ln>
        </p:spPr>
      </p:cxnSp>
      <p:sp>
        <p:nvSpPr>
          <p:cNvPr id="229" name="Google Shape;229;p22"/>
          <p:cNvSpPr txBox="1"/>
          <p:nvPr/>
        </p:nvSpPr>
        <p:spPr>
          <a:xfrm>
            <a:off x="2571750" y="5354334"/>
            <a:ext cx="5025060" cy="2493010"/>
          </a:xfrm>
          <a:prstGeom prst="rect">
            <a:avLst/>
          </a:prstGeom>
          <a:noFill/>
          <a:ln>
            <a:noFill/>
          </a:ln>
        </p:spPr>
        <p:txBody>
          <a:bodyPr anchorCtr="0" anchor="t" bIns="0" lIns="0" spcFirstLastPara="1" rIns="0" wrap="square" tIns="0">
            <a:spAutoFit/>
          </a:bodyPr>
          <a:lstStyle/>
          <a:p>
            <a:pPr indent="-172721" lvl="1" marL="345443" marR="0" rtl="0" algn="l">
              <a:lnSpc>
                <a:spcPct val="140000"/>
              </a:lnSpc>
              <a:spcBef>
                <a:spcPts val="0"/>
              </a:spcBef>
              <a:spcAft>
                <a:spcPts val="0"/>
              </a:spcAft>
              <a:buClr>
                <a:srgbClr val="FFFFFF"/>
              </a:buClr>
              <a:buSzPts val="1600"/>
              <a:buFont typeface="Arial"/>
              <a:buChar char="•"/>
            </a:pPr>
            <a:r>
              <a:rPr b="0" i="0" lang="en-US" sz="1600" u="none" cap="none" strike="noStrike">
                <a:solidFill>
                  <a:srgbClr val="FFFFFF"/>
                </a:solidFill>
                <a:latin typeface="Poppins"/>
                <a:ea typeface="Poppins"/>
                <a:cs typeface="Poppins"/>
                <a:sym typeface="Poppins"/>
              </a:rPr>
              <a:t>Every cloned page costs a merchant sales, and their customers real money sent to the wrong Till or number</a:t>
            </a:r>
            <a:endParaRPr/>
          </a:p>
          <a:p>
            <a:pPr indent="0" lvl="0" marL="0" marR="0" rtl="0" algn="l">
              <a:lnSpc>
                <a:spcPct val="140000"/>
              </a:lnSpc>
              <a:spcBef>
                <a:spcPts val="0"/>
              </a:spcBef>
              <a:spcAft>
                <a:spcPts val="0"/>
              </a:spcAft>
              <a:buNone/>
            </a:pPr>
            <a:r>
              <a:t/>
            </a:r>
            <a:endParaRPr b="0" i="0" sz="1600" u="none" cap="none" strike="noStrike">
              <a:solidFill>
                <a:srgbClr val="FFFFFF"/>
              </a:solidFill>
              <a:latin typeface="Poppins"/>
              <a:ea typeface="Poppins"/>
              <a:cs typeface="Poppins"/>
              <a:sym typeface="Poppins"/>
            </a:endParaRPr>
          </a:p>
          <a:p>
            <a:pPr indent="-172721" lvl="1" marL="345443" marR="0" rtl="0" algn="l">
              <a:lnSpc>
                <a:spcPct val="140000"/>
              </a:lnSpc>
              <a:spcBef>
                <a:spcPts val="0"/>
              </a:spcBef>
              <a:spcAft>
                <a:spcPts val="0"/>
              </a:spcAft>
              <a:buClr>
                <a:srgbClr val="FFFFFF"/>
              </a:buClr>
              <a:buSzPts val="1600"/>
              <a:buFont typeface="Arial"/>
              <a:buChar char="•"/>
            </a:pPr>
            <a:r>
              <a:rPr b="0" i="0" lang="en-US" sz="1600" u="none" cap="none" strike="noStrike">
                <a:solidFill>
                  <a:srgbClr val="FFFFFF"/>
                </a:solidFill>
                <a:latin typeface="Poppins"/>
                <a:ea typeface="Poppins"/>
                <a:cs typeface="Poppins"/>
                <a:sym typeface="Poppins"/>
              </a:rPr>
              <a:t>Halisi turns a manual, easy-to-miss comparison into a scored verdict in seconds, so a merchant or buyer can catch a clone before money moves</a:t>
            </a:r>
            <a:endParaRPr/>
          </a:p>
          <a:p>
            <a:pPr indent="0" lvl="0" marL="0" marR="0" rtl="0" algn="l">
              <a:lnSpc>
                <a:spcPct val="140000"/>
              </a:lnSpc>
              <a:spcBef>
                <a:spcPts val="0"/>
              </a:spcBef>
              <a:spcAft>
                <a:spcPts val="0"/>
              </a:spcAft>
              <a:buNone/>
            </a:pPr>
            <a:r>
              <a:t/>
            </a:r>
            <a:endParaRPr b="0" i="0" sz="1600" u="none" cap="none" strike="noStrike">
              <a:solidFill>
                <a:srgbClr val="FFFFFF"/>
              </a:solidFill>
              <a:latin typeface="Poppins"/>
              <a:ea typeface="Poppins"/>
              <a:cs typeface="Poppins"/>
              <a:sym typeface="Poppins"/>
            </a:endParaRPr>
          </a:p>
        </p:txBody>
      </p:sp>
      <p:sp>
        <p:nvSpPr>
          <p:cNvPr id="230" name="Google Shape;230;p22"/>
          <p:cNvSpPr/>
          <p:nvPr/>
        </p:nvSpPr>
        <p:spPr>
          <a:xfrm>
            <a:off x="2571750" y="7435532"/>
            <a:ext cx="18601707" cy="7887124"/>
          </a:xfrm>
          <a:custGeom>
            <a:rect b="b" l="l" r="r" t="t"/>
            <a:pathLst>
              <a:path extrusionOk="0" h="7887124" w="18601707">
                <a:moveTo>
                  <a:pt x="0" y="0"/>
                </a:moveTo>
                <a:lnTo>
                  <a:pt x="18601707" y="0"/>
                </a:lnTo>
                <a:lnTo>
                  <a:pt x="18601707" y="7887124"/>
                </a:lnTo>
                <a:lnTo>
                  <a:pt x="0" y="7887124"/>
                </a:lnTo>
                <a:lnTo>
                  <a:pt x="0" y="0"/>
                </a:lnTo>
                <a:close/>
              </a:path>
            </a:pathLst>
          </a:custGeom>
          <a:blipFill rotWithShape="1">
            <a:blip r:embed="rId3">
              <a:alphaModFix amt="60000"/>
            </a:blip>
            <a:stretch>
              <a:fillRect b="0" l="0" r="0" t="0"/>
            </a:stretch>
          </a:blipFill>
          <a:ln>
            <a:noFill/>
          </a:ln>
        </p:spPr>
      </p:sp>
      <p:pic>
        <p:nvPicPr>
          <p:cNvPr id="231" name="Google Shape;231;p22"/>
          <p:cNvPicPr preferRelativeResize="0"/>
          <p:nvPr/>
        </p:nvPicPr>
        <p:blipFill rotWithShape="1">
          <a:blip r:embed="rId4">
            <a:alphaModFix/>
          </a:blip>
          <a:srcRect b="0" l="0" r="0" t="0"/>
          <a:stretch/>
        </p:blipFill>
        <p:spPr>
          <a:xfrm>
            <a:off x="10439503" y="1538086"/>
            <a:ext cx="6343146" cy="7379806"/>
          </a:xfrm>
          <a:prstGeom prst="rect">
            <a:avLst/>
          </a:prstGeom>
          <a:noFill/>
          <a:ln>
            <a:noFill/>
          </a:ln>
        </p:spPr>
      </p:pic>
      <p:sp>
        <p:nvSpPr>
          <p:cNvPr id="232" name="Google Shape;232;p22"/>
          <p:cNvSpPr txBox="1"/>
          <p:nvPr/>
        </p:nvSpPr>
        <p:spPr>
          <a:xfrm>
            <a:off x="2571750" y="3114689"/>
            <a:ext cx="5905500" cy="150431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5600" u="none" cap="none" strike="noStrike">
                <a:solidFill>
                  <a:srgbClr val="FFFFFF"/>
                </a:solidFill>
                <a:latin typeface="Poppins Light"/>
                <a:ea typeface="Poppins Light"/>
                <a:cs typeface="Poppins Light"/>
                <a:sym typeface="Poppins Light"/>
              </a:rPr>
              <a:t>IMPACT &amp; THE ROAD AHEAD</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